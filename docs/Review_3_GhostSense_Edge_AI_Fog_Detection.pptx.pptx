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49800" cy="9753600"/>
  <p:notesSz cx="6858000" cy="9144000"/>
  <p:embeddedFontLst>
    <p:embeddedFont>
      <p:font typeface="Calibri (MS)" charset="1" panose="020F0502020204030204"/>
      <p:regular r:id="rId21"/>
    </p:embeddedFont>
    <p:embeddedFont>
      <p:font typeface="Roboto Bold" charset="1" panose="02000000000000000000"/>
      <p:regular r:id="rId22"/>
    </p:embeddedFont>
    <p:embeddedFont>
      <p:font typeface="Roboto" charset="1" panose="02000000000000000000"/>
      <p:regular r:id="rId23"/>
    </p:embeddedFont>
    <p:embeddedFont>
      <p:font typeface="Barlow Bold" charset="1" panose="00000800000000000000"/>
      <p:regular r:id="rId24"/>
    </p:embeddedFont>
    <p:embeddedFont>
      <p:font typeface="Aileron Bold" charset="1" panose="00000800000000000000"/>
      <p:regular r:id="rId25"/>
    </p:embeddedFont>
    <p:embeddedFont>
      <p:font typeface="The Seasons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19" Target="../media/image25.png" Type="http://schemas.openxmlformats.org/officeDocument/2006/relationships/image"/><Relationship Id="rId2" Target="../media/image8.png" Type="http://schemas.openxmlformats.org/officeDocument/2006/relationships/image"/><Relationship Id="rId20" Target="../media/image26.svg" Type="http://schemas.openxmlformats.org/officeDocument/2006/relationships/image"/><Relationship Id="rId21" Target="../media/image27.png" Type="http://schemas.openxmlformats.org/officeDocument/2006/relationships/image"/><Relationship Id="rId22" Target="../media/image28.png" Type="http://schemas.openxmlformats.org/officeDocument/2006/relationships/image"/><Relationship Id="rId23" Target="../media/image29.svg" Type="http://schemas.openxmlformats.org/officeDocument/2006/relationships/image"/><Relationship Id="rId24" Target="../media/image30.png" Type="http://schemas.openxmlformats.org/officeDocument/2006/relationships/image"/><Relationship Id="rId25" Target="../media/image31.svg" Type="http://schemas.openxmlformats.org/officeDocument/2006/relationships/image"/><Relationship Id="rId26" Target="../media/image32.png" Type="http://schemas.openxmlformats.org/officeDocument/2006/relationships/image"/><Relationship Id="rId27" Target="../media/image33.svg" Type="http://schemas.openxmlformats.org/officeDocument/2006/relationships/image"/><Relationship Id="rId28" Target="../media/image34.png" Type="http://schemas.openxmlformats.org/officeDocument/2006/relationships/image"/><Relationship Id="rId29" Target="../media/image35.svg" Type="http://schemas.openxmlformats.org/officeDocument/2006/relationships/image"/><Relationship Id="rId3" Target="../media/image9.png" Type="http://schemas.openxmlformats.org/officeDocument/2006/relationships/image"/><Relationship Id="rId30" Target="../media/image36.png" Type="http://schemas.openxmlformats.org/officeDocument/2006/relationships/image"/><Relationship Id="rId31" Target="../media/image37.svg" Type="http://schemas.openxmlformats.org/officeDocument/2006/relationships/image"/><Relationship Id="rId32" Target="../media/image38.png" Type="http://schemas.openxmlformats.org/officeDocument/2006/relationships/image"/><Relationship Id="rId33" Target="../media/image39.svg" Type="http://schemas.openxmlformats.org/officeDocument/2006/relationships/image"/><Relationship Id="rId34" Target="../media/image40.png" Type="http://schemas.openxmlformats.org/officeDocument/2006/relationships/image"/><Relationship Id="rId35" Target="../media/image41.svg" Type="http://schemas.openxmlformats.org/officeDocument/2006/relationships/image"/><Relationship Id="rId36" Target="../media/image42.png" Type="http://schemas.openxmlformats.org/officeDocument/2006/relationships/image"/><Relationship Id="rId37" Target="../media/image43.svg" Type="http://schemas.openxmlformats.org/officeDocument/2006/relationships/image"/><Relationship Id="rId38" Target="../media/image44.png" Type="http://schemas.openxmlformats.org/officeDocument/2006/relationships/image"/><Relationship Id="rId39" Target="../media/image45.svg" Type="http://schemas.openxmlformats.org/officeDocument/2006/relationships/image"/><Relationship Id="rId4" Target="../media/image10.svg" Type="http://schemas.openxmlformats.org/officeDocument/2006/relationships/image"/><Relationship Id="rId40" Target="../media/image46.jpe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19" Target="../media/image25.png" Type="http://schemas.openxmlformats.org/officeDocument/2006/relationships/image"/><Relationship Id="rId2" Target="../media/image8.png" Type="http://schemas.openxmlformats.org/officeDocument/2006/relationships/image"/><Relationship Id="rId20" Target="../media/image26.svg" Type="http://schemas.openxmlformats.org/officeDocument/2006/relationships/image"/><Relationship Id="rId21" Target="../media/image27.png" Type="http://schemas.openxmlformats.org/officeDocument/2006/relationships/image"/><Relationship Id="rId22" Target="../media/image28.png" Type="http://schemas.openxmlformats.org/officeDocument/2006/relationships/image"/><Relationship Id="rId23" Target="../media/image29.svg" Type="http://schemas.openxmlformats.org/officeDocument/2006/relationships/image"/><Relationship Id="rId24" Target="../media/image30.png" Type="http://schemas.openxmlformats.org/officeDocument/2006/relationships/image"/><Relationship Id="rId25" Target="../media/image31.svg" Type="http://schemas.openxmlformats.org/officeDocument/2006/relationships/image"/><Relationship Id="rId26" Target="../media/image32.png" Type="http://schemas.openxmlformats.org/officeDocument/2006/relationships/image"/><Relationship Id="rId27" Target="../media/image33.svg" Type="http://schemas.openxmlformats.org/officeDocument/2006/relationships/image"/><Relationship Id="rId28" Target="../media/image34.png" Type="http://schemas.openxmlformats.org/officeDocument/2006/relationships/image"/><Relationship Id="rId29" Target="../media/image35.svg" Type="http://schemas.openxmlformats.org/officeDocument/2006/relationships/image"/><Relationship Id="rId3" Target="../media/image9.png" Type="http://schemas.openxmlformats.org/officeDocument/2006/relationships/image"/><Relationship Id="rId30" Target="../media/image36.png" Type="http://schemas.openxmlformats.org/officeDocument/2006/relationships/image"/><Relationship Id="rId31" Target="../media/image37.svg" Type="http://schemas.openxmlformats.org/officeDocument/2006/relationships/image"/><Relationship Id="rId32" Target="../media/image38.png" Type="http://schemas.openxmlformats.org/officeDocument/2006/relationships/image"/><Relationship Id="rId33" Target="../media/image39.svg" Type="http://schemas.openxmlformats.org/officeDocument/2006/relationships/image"/><Relationship Id="rId34" Target="../media/image40.png" Type="http://schemas.openxmlformats.org/officeDocument/2006/relationships/image"/><Relationship Id="rId35" Target="../media/image41.svg" Type="http://schemas.openxmlformats.org/officeDocument/2006/relationships/image"/><Relationship Id="rId36" Target="../media/image42.png" Type="http://schemas.openxmlformats.org/officeDocument/2006/relationships/image"/><Relationship Id="rId37" Target="../media/image43.svg" Type="http://schemas.openxmlformats.org/officeDocument/2006/relationships/image"/><Relationship Id="rId38" Target="../media/image44.png" Type="http://schemas.openxmlformats.org/officeDocument/2006/relationships/image"/><Relationship Id="rId39" Target="../media/image45.svg" Type="http://schemas.openxmlformats.org/officeDocument/2006/relationships/image"/><Relationship Id="rId4" Target="../media/image10.svg" Type="http://schemas.openxmlformats.org/officeDocument/2006/relationships/image"/><Relationship Id="rId40" Target="../media/image46.jpeg" Type="http://schemas.openxmlformats.org/officeDocument/2006/relationships/image"/><Relationship Id="rId41" Target="../media/image1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19.png" Type="http://schemas.openxmlformats.org/officeDocument/2006/relationships/image"/><Relationship Id="rId14" Target="../media/image20.svg" Type="http://schemas.openxmlformats.org/officeDocument/2006/relationships/image"/><Relationship Id="rId15" Target="../media/image21.png" Type="http://schemas.openxmlformats.org/officeDocument/2006/relationships/image"/><Relationship Id="rId16" Target="../media/image22.svg" Type="http://schemas.openxmlformats.org/officeDocument/2006/relationships/image"/><Relationship Id="rId17" Target="../media/image23.png" Type="http://schemas.openxmlformats.org/officeDocument/2006/relationships/image"/><Relationship Id="rId18" Target="../media/image24.svg" Type="http://schemas.openxmlformats.org/officeDocument/2006/relationships/image"/><Relationship Id="rId19" Target="../media/image25.png" Type="http://schemas.openxmlformats.org/officeDocument/2006/relationships/image"/><Relationship Id="rId2" Target="../media/image8.png" Type="http://schemas.openxmlformats.org/officeDocument/2006/relationships/image"/><Relationship Id="rId20" Target="../media/image26.svg" Type="http://schemas.openxmlformats.org/officeDocument/2006/relationships/image"/><Relationship Id="rId21" Target="../media/image27.png" Type="http://schemas.openxmlformats.org/officeDocument/2006/relationships/image"/><Relationship Id="rId22" Target="../media/image28.png" Type="http://schemas.openxmlformats.org/officeDocument/2006/relationships/image"/><Relationship Id="rId23" Target="../media/image29.svg" Type="http://schemas.openxmlformats.org/officeDocument/2006/relationships/image"/><Relationship Id="rId24" Target="../media/image30.png" Type="http://schemas.openxmlformats.org/officeDocument/2006/relationships/image"/><Relationship Id="rId25" Target="../media/image31.svg" Type="http://schemas.openxmlformats.org/officeDocument/2006/relationships/image"/><Relationship Id="rId26" Target="../media/image32.png" Type="http://schemas.openxmlformats.org/officeDocument/2006/relationships/image"/><Relationship Id="rId27" Target="../media/image33.svg" Type="http://schemas.openxmlformats.org/officeDocument/2006/relationships/image"/><Relationship Id="rId28" Target="../media/image34.png" Type="http://schemas.openxmlformats.org/officeDocument/2006/relationships/image"/><Relationship Id="rId29" Target="../media/image35.svg" Type="http://schemas.openxmlformats.org/officeDocument/2006/relationships/image"/><Relationship Id="rId3" Target="../media/image9.png" Type="http://schemas.openxmlformats.org/officeDocument/2006/relationships/image"/><Relationship Id="rId30" Target="../media/image36.png" Type="http://schemas.openxmlformats.org/officeDocument/2006/relationships/image"/><Relationship Id="rId31" Target="../media/image37.svg" Type="http://schemas.openxmlformats.org/officeDocument/2006/relationships/image"/><Relationship Id="rId32" Target="../media/image38.png" Type="http://schemas.openxmlformats.org/officeDocument/2006/relationships/image"/><Relationship Id="rId33" Target="../media/image39.svg" Type="http://schemas.openxmlformats.org/officeDocument/2006/relationships/image"/><Relationship Id="rId34" Target="../media/image40.png" Type="http://schemas.openxmlformats.org/officeDocument/2006/relationships/image"/><Relationship Id="rId35" Target="../media/image41.svg" Type="http://schemas.openxmlformats.org/officeDocument/2006/relationships/image"/><Relationship Id="rId36" Target="../media/image42.png" Type="http://schemas.openxmlformats.org/officeDocument/2006/relationships/image"/><Relationship Id="rId37" Target="../media/image43.svg" Type="http://schemas.openxmlformats.org/officeDocument/2006/relationships/image"/><Relationship Id="rId38" Target="../media/image44.png" Type="http://schemas.openxmlformats.org/officeDocument/2006/relationships/image"/><Relationship Id="rId39" Target="../media/image45.svg" Type="http://schemas.openxmlformats.org/officeDocument/2006/relationships/image"/><Relationship Id="rId4" Target="../media/image10.svg" Type="http://schemas.openxmlformats.org/officeDocument/2006/relationships/image"/><Relationship Id="rId40" Target="../media/image46.jpeg" Type="http://schemas.openxmlformats.org/officeDocument/2006/relationships/image"/><Relationship Id="rId41" Target="../media/image1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48.jpe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jpeg" Type="http://schemas.openxmlformats.org/officeDocument/2006/relationships/image"/><Relationship Id="rId8" Target="../media/image53.png" Type="http://schemas.openxmlformats.org/officeDocument/2006/relationships/image"/><Relationship Id="rId9" Target="../media/image5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1.jpeg" Type="http://schemas.openxmlformats.org/officeDocument/2006/relationships/image"/><Relationship Id="rId4" Target="../media/VAHWC342tFM.mp4" Type="http://schemas.openxmlformats.org/officeDocument/2006/relationships/video"/><Relationship Id="rId5" Target="../media/VAHWC342tFM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6.jpeg" Type="http://schemas.openxmlformats.org/officeDocument/2006/relationships/image"/><Relationship Id="rId4" Target="../media/VAF7TAgvg14.mp4" Type="http://schemas.openxmlformats.org/officeDocument/2006/relationships/video"/><Relationship Id="rId5" Target="../media/VAF7TAgvg14.mp4" Type="http://schemas.microsoft.com/office/2007/relationships/media"/><Relationship Id="rId6" Target="../media/image67.png" Type="http://schemas.openxmlformats.org/officeDocument/2006/relationships/image"/><Relationship Id="rId7" Target="../media/image6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53407" y="8901522"/>
            <a:ext cx="3841616" cy="511326"/>
            <a:chOff x="0" y="0"/>
            <a:chExt cx="5486400" cy="730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16"/>
                </a:lnSpc>
              </a:pPr>
              <a:r>
                <a:rPr lang="en-US" sz="168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988" y="4532724"/>
            <a:ext cx="17165364" cy="5079822"/>
            <a:chOff x="0" y="0"/>
            <a:chExt cx="24610266" cy="72830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10267" cy="7283011"/>
            </a:xfrm>
            <a:custGeom>
              <a:avLst/>
              <a:gdLst/>
              <a:ahLst/>
              <a:cxnLst/>
              <a:rect r="r" b="b" t="t" l="l"/>
              <a:pathLst>
                <a:path h="7283011" w="24610267">
                  <a:moveTo>
                    <a:pt x="0" y="0"/>
                  </a:moveTo>
                  <a:lnTo>
                    <a:pt x="24610267" y="0"/>
                  </a:lnTo>
                  <a:lnTo>
                    <a:pt x="24610267" y="7283011"/>
                  </a:lnTo>
                  <a:lnTo>
                    <a:pt x="0" y="7283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1000"/>
              </a:blip>
              <a:stretch>
                <a:fillRect l="0" t="-542" r="0" b="-54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7692" y="142153"/>
            <a:ext cx="4441503" cy="942137"/>
            <a:chOff x="0" y="0"/>
            <a:chExt cx="9727795" cy="20634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27760" cy="2063496"/>
            </a:xfrm>
            <a:custGeom>
              <a:avLst/>
              <a:gdLst/>
              <a:ahLst/>
              <a:cxnLst/>
              <a:rect r="r" b="b" t="t" l="l"/>
              <a:pathLst>
                <a:path h="2063496" w="9727760">
                  <a:moveTo>
                    <a:pt x="0" y="0"/>
                  </a:moveTo>
                  <a:lnTo>
                    <a:pt x="9727760" y="0"/>
                  </a:lnTo>
                  <a:lnTo>
                    <a:pt x="9727760" y="2063496"/>
                  </a:lnTo>
                  <a:lnTo>
                    <a:pt x="0" y="2063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623" r="0" b="-1734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9021" y="1873432"/>
            <a:ext cx="1607361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2"/>
              </a:lnSpc>
            </a:pPr>
            <a:r>
              <a:rPr lang="en-US" sz="546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Ghost Vehicle Detection in Fog Using Pressure-Wave Sensing Before Visual Detection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19880" y="4722896"/>
            <a:ext cx="6860484" cy="1827889"/>
            <a:chOff x="0" y="0"/>
            <a:chExt cx="9147311" cy="243718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628862" y="-47625"/>
              <a:ext cx="3889586" cy="474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2"/>
                </a:lnSpc>
                <a:spcBef>
                  <a:spcPct val="0"/>
                </a:spcBef>
              </a:pPr>
              <a:r>
                <a:rPr lang="en-US" b="true" sz="2137" u="sng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Mentor 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64229"/>
              <a:ext cx="9147311" cy="19729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2"/>
                </a:lnSpc>
              </a:pPr>
              <a:r>
                <a:rPr lang="en-US" sz="2137" b="true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Dr. C. Ganesh Kumar</a:t>
              </a:r>
            </a:p>
            <a:p>
              <a:pPr algn="ctr">
                <a:lnSpc>
                  <a:spcPts val="2992"/>
                </a:lnSpc>
                <a:spcBef>
                  <a:spcPct val="0"/>
                </a:spcBef>
              </a:pPr>
              <a:r>
                <a:rPr lang="en-US" sz="2137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Chairperson, Department of Electronics and Communication Engineering, School of Computing, Chennai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21033" y="4722896"/>
            <a:ext cx="6398177" cy="1570448"/>
            <a:chOff x="0" y="0"/>
            <a:chExt cx="8530903" cy="209393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458835" y="-57150"/>
              <a:ext cx="5613234" cy="5235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67"/>
                </a:lnSpc>
                <a:spcBef>
                  <a:spcPct val="0"/>
                </a:spcBef>
              </a:pPr>
              <a:r>
                <a:rPr lang="en-US" b="true" sz="2334" u="sng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Presented by 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77527"/>
              <a:ext cx="8530903" cy="1616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7"/>
                </a:lnSpc>
              </a:pPr>
              <a:r>
                <a:rPr lang="en-US" sz="2334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Akshaya M V</a:t>
              </a:r>
              <a:r>
                <a:rPr lang="en-US" sz="2334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 - CH.EN.U4CCE24003</a:t>
              </a:r>
            </a:p>
            <a:p>
              <a:pPr algn="l">
                <a:lnSpc>
                  <a:spcPts val="3267"/>
                </a:lnSpc>
              </a:pPr>
              <a:r>
                <a:rPr lang="en-US" sz="2334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Devadharshini P - CH.EN.U4CCE24004</a:t>
              </a:r>
            </a:p>
            <a:p>
              <a:pPr algn="l">
                <a:lnSpc>
                  <a:spcPts val="3267"/>
                </a:lnSpc>
                <a:spcBef>
                  <a:spcPct val="0"/>
                </a:spcBef>
              </a:pPr>
              <a:r>
                <a:rPr lang="en-US" sz="2334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 Mukesh - CH.EN.U4CCE24015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45286" y="369077"/>
            <a:ext cx="10073924" cy="51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5"/>
              </a:lnSpc>
              <a:spcBef>
                <a:spcPct val="0"/>
              </a:spcBef>
            </a:pPr>
            <a:r>
              <a:rPr lang="en-US" sz="3600" spc="-2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Embedded Systems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231819" y="3044464"/>
            <a:ext cx="7560065" cy="6395421"/>
          </a:xfrm>
          <a:custGeom>
            <a:avLst/>
            <a:gdLst/>
            <a:ahLst/>
            <a:cxnLst/>
            <a:rect r="r" b="b" t="t" l="l"/>
            <a:pathLst>
              <a:path h="6395421" w="7560065">
                <a:moveTo>
                  <a:pt x="0" y="0"/>
                </a:moveTo>
                <a:lnTo>
                  <a:pt x="7560065" y="0"/>
                </a:lnTo>
                <a:lnTo>
                  <a:pt x="7560065" y="6395421"/>
                </a:lnTo>
                <a:lnTo>
                  <a:pt x="0" y="6395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740" t="-15913" r="0" b="-626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19448" y="3044464"/>
            <a:ext cx="6167952" cy="6395421"/>
          </a:xfrm>
          <a:custGeom>
            <a:avLst/>
            <a:gdLst/>
            <a:ahLst/>
            <a:cxnLst/>
            <a:rect r="r" b="b" t="t" l="l"/>
            <a:pathLst>
              <a:path h="6395421" w="6167952">
                <a:moveTo>
                  <a:pt x="0" y="0"/>
                </a:moveTo>
                <a:lnTo>
                  <a:pt x="6167952" y="0"/>
                </a:lnTo>
                <a:lnTo>
                  <a:pt x="6167952" y="6395421"/>
                </a:lnTo>
                <a:lnTo>
                  <a:pt x="0" y="6395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43" r="-11685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9448" y="1806392"/>
            <a:ext cx="13972436" cy="1172163"/>
          </a:xfrm>
          <a:custGeom>
            <a:avLst/>
            <a:gdLst/>
            <a:ahLst/>
            <a:cxnLst/>
            <a:rect r="r" b="b" t="t" l="l"/>
            <a:pathLst>
              <a:path h="1172163" w="13972436">
                <a:moveTo>
                  <a:pt x="0" y="0"/>
                </a:moveTo>
                <a:lnTo>
                  <a:pt x="13972436" y="0"/>
                </a:lnTo>
                <a:lnTo>
                  <a:pt x="13972436" y="1172164"/>
                </a:lnTo>
                <a:lnTo>
                  <a:pt x="0" y="1172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7051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24154" y="447675"/>
            <a:ext cx="121615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47120" y="447675"/>
            <a:ext cx="539496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 b="true">
                <a:solidFill>
                  <a:srgbClr val="FFBD59"/>
                </a:solidFill>
                <a:latin typeface="Roboto Bold"/>
                <a:ea typeface="Roboto Bold"/>
                <a:cs typeface="Roboto Bold"/>
                <a:sym typeface="Roboto Bold"/>
              </a:rPr>
              <a:t>[ REVIEW RUBRIC: PROJECT CONCEPT ]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000096" y="492874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000096" y="527556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0096" y="5666096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008872" y="4928744"/>
            <a:ext cx="396671" cy="365078"/>
            <a:chOff x="0" y="0"/>
            <a:chExt cx="574040" cy="528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16000096" y="5278201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6008872" y="5681015"/>
            <a:ext cx="396671" cy="365078"/>
            <a:chOff x="0" y="0"/>
            <a:chExt cx="574040" cy="528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05" id="105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2630500" y="8513877"/>
            <a:ext cx="2719126" cy="905673"/>
            <a:chOff x="0" y="0"/>
            <a:chExt cx="3934968" cy="1310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34968" cy="1310640"/>
            </a:xfrm>
            <a:custGeom>
              <a:avLst/>
              <a:gdLst/>
              <a:ahLst/>
              <a:cxnLst/>
              <a:rect r="r" b="b" t="t" l="l"/>
              <a:pathLst>
                <a:path h="1310640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close/>
                </a:path>
              </a:pathLst>
            </a:custGeom>
            <a:blipFill>
              <a:blip r:embed="rId40"/>
              <a:stretch>
                <a:fillRect l="0" t="-38" r="0" b="-38"/>
              </a:stretch>
            </a:blipFill>
          </p:spPr>
        </p:sp>
      </p:grpSp>
      <p:graphicFrame>
        <p:nvGraphicFramePr>
          <p:cNvPr name="Table 120" id="120"/>
          <p:cNvGraphicFramePr>
            <a:graphicFrameLocks noGrp="true"/>
          </p:cNvGraphicFramePr>
          <p:nvPr/>
        </p:nvGraphicFramePr>
        <p:xfrm>
          <a:off x="591272" y="1579184"/>
          <a:ext cx="16340215" cy="7901308"/>
        </p:xfrm>
        <a:graphic>
          <a:graphicData uri="http://schemas.openxmlformats.org/drawingml/2006/table">
            <a:tbl>
              <a:tblPr/>
              <a:tblGrid>
                <a:gridCol w="1102076"/>
                <a:gridCol w="3739036"/>
                <a:gridCol w="1179276"/>
                <a:gridCol w="2311287"/>
                <a:gridCol w="2715624"/>
                <a:gridCol w="2636279"/>
                <a:gridCol w="2656637"/>
              </a:tblGrid>
              <a:tr h="1148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</a:tr>
              <a:tr h="1463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name="TextBox 121" id="121"/>
          <p:cNvSpPr txBox="true"/>
          <p:nvPr/>
        </p:nvSpPr>
        <p:spPr>
          <a:xfrm rot="0">
            <a:off x="651690" y="1863822"/>
            <a:ext cx="87701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S.NO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2036505" y="1863822"/>
            <a:ext cx="29642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Title of the Paper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8937500" y="1598292"/>
            <a:ext cx="208216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Hardware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/Software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5594669" y="1863822"/>
            <a:ext cx="77271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Year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4647559" y="1947032"/>
            <a:ext cx="162186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Inference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019990" y="33380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019990" y="4631065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19990" y="61461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3.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019990" y="7471883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4.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19990" y="876744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5.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6739963" y="1863822"/>
            <a:ext cx="160698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783197" y="4381218"/>
            <a:ext cx="3413887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Ensemble Artificial Intelligence Framework for Real-Time Automatic Vehicle Detection and Classifications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5631854" y="4411266"/>
            <a:ext cx="671247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May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6648565" y="6915346"/>
            <a:ext cx="221504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 3D object detection in fog using enhanced camera-LiDAR fusion.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4366697" y="6906977"/>
            <a:ext cx="2423093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Enhanced 3D perception, Virtual point clouds, Costly sensor fusion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861425" y="6906977"/>
            <a:ext cx="3335659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FogFusion: Robust 3D object detection based on camera-LiDAR fusion for autonomous driving in foggy weather conditions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5594618" y="6939302"/>
            <a:ext cx="671247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MAR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6668913" y="8245696"/>
            <a:ext cx="2261768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Estimate road visibility and driving risk under rain-fog conditions using roadside surveillance images.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4359589" y="8126454"/>
            <a:ext cx="2430201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Visibility estimation, Risk assessment, Infrastructure-based monitoring</a:t>
            </a:r>
          </a:p>
          <a:p>
            <a:pPr algn="just">
              <a:lnSpc>
                <a:spcPts val="1959"/>
              </a:lnSpc>
              <a:spcBef>
                <a:spcPct val="0"/>
              </a:spcBef>
            </a:pPr>
          </a:p>
        </p:txBody>
      </p:sp>
      <p:sp>
        <p:nvSpPr>
          <p:cNvPr name="TextBox 140" id="140"/>
          <p:cNvSpPr txBox="true"/>
          <p:nvPr/>
        </p:nvSpPr>
        <p:spPr>
          <a:xfrm rot="0">
            <a:off x="14360922" y="5535107"/>
            <a:ext cx="2318244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Fog-aware feature enhancement, Real-time detection, Camera limitations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909941" y="8227820"/>
            <a:ext cx="3287143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Dynamic Visibility Recognition and Driving Risk Assessment Under Rain–Fog Conditions Using Monocular Surveillance Imagery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5568768" y="8279801"/>
            <a:ext cx="670322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JAN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6648565" y="2958597"/>
            <a:ext cx="2282116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 obstacle detection in dense fog using adaptive multi-modal sensor fusion.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8984624" y="2849921"/>
            <a:ext cx="2568696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</a:t>
            </a:r>
            <a:r>
              <a:rPr lang="en-US" sz="12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Gated Camera, 3D LiDAR. 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24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AFW-Net, Attention-based Adaptive Fusion, Uncertainty Estimation, Cross-modal Feature Extraction.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4394774" y="2993911"/>
            <a:ext cx="2395016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Adaptive sensor weighting, Reliable sensor fusion, Robust fog perception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886336" y="5700312"/>
            <a:ext cx="3310748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FogGate-YOLO: Traffic Object Detection in Foggy Environments Using Channel Selection Mechanisms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5595943" y="5693543"/>
            <a:ext cx="74306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MAR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 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6648565" y="4209997"/>
            <a:ext cx="2081098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Develop an ensemble AI framework for accurate vehicle detection and classification under adverse weather.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6615028" y="5604687"/>
            <a:ext cx="2282116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Design a lightweight object detector specifically optimized for foggy environments.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1753345" y="2770864"/>
            <a:ext cx="2157022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Achieved 82% AP at 50 m visibility, improving detection by 23.7% over conventional RGB-LiDAR fusion.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4364357" y="4253751"/>
            <a:ext cx="2425433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Ensemble learning, High detection accuracy, Vision-dependent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909941" y="2958597"/>
            <a:ext cx="3287143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Adaptive Sensor Fusion for Robust Perception in Dense Fog: A Gated Vision and LiDAR Integration Framework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5567570" y="2954118"/>
            <a:ext cx="799814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JUNE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2054378" y="1904089"/>
            <a:ext cx="155495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Outcome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8984624" y="4219522"/>
            <a:ext cx="2568696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RGB Camera. 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: YOLOv5, YOLOv7, YOLOv8, YOLOv10, DETR-ResNet50, Faster R-CNN, Dynamic Weighting, NMS, Ensemble Learning.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8984624" y="5565565"/>
            <a:ext cx="2568696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</a:t>
            </a:r>
            <a:r>
              <a:rPr lang="en-US" sz="12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RGB Camera. 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24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</a:t>
            </a:r>
            <a:r>
              <a:rPr lang="en-US" sz="124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YOLOv12, A2C2f-FSA Module, Bidirectional Feature Fusion Module (BFFM), GSConv, F-WIoU v3 Loss.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8984624" y="6804878"/>
            <a:ext cx="2627199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RGB Camera, LiDAR. </a:t>
            </a: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Depth Completion Network with Fog Convolution (DCFC), Flexible Cylindrical Voxel (FCV), Cylindrical Fusion Module (CFM).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8974392" y="8169314"/>
            <a:ext cx="2637431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Monocular CCTV Camera. </a:t>
            </a: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Koschmieder Scattering Model, Dark Channel Prior, Monte Carlo Simulation, Low Visibility Risk Field Force (LVRFF).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1753345" y="4257393"/>
            <a:ext cx="2436127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Achieved 96.6% mAP, 94.2% Precision, and 94.1% F1-score for multi-class vehicle detection.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1724770" y="5535107"/>
            <a:ext cx="246470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Improved mAP@0.5 by 5.2% (RTTS) and 7.3% (VOC-FOG) while maintaining real-time inference.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1735648" y="6849646"/>
            <a:ext cx="2453824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Improved detection performance by ≥3.32% over baseline methods on KITTI-C.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1724770" y="8166403"/>
            <a:ext cx="246470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Achieved &gt;86% visibility estimation accuracy and effectively identified high-risk driving zones.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5678965" y="260993"/>
            <a:ext cx="6503432" cy="114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SURVEY</a:t>
            </a: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3480"/>
              </a:lnSpc>
            </a:pPr>
            <a:r>
              <a:rPr lang="en-US" b="true" sz="2872" spc="45">
                <a:solidFill>
                  <a:srgbClr val="8D9191"/>
                </a:solidFill>
                <a:latin typeface="Roboto Bold"/>
                <a:ea typeface="Roboto Bold"/>
                <a:cs typeface="Roboto Bold"/>
                <a:sym typeface="Roboto Bold"/>
              </a:rPr>
              <a:t>Study of the research work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000096" y="492874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000096" y="527556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0096" y="5666096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008872" y="4928744"/>
            <a:ext cx="396671" cy="365078"/>
            <a:chOff x="0" y="0"/>
            <a:chExt cx="574040" cy="528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16000096" y="5278201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6008872" y="5681015"/>
            <a:ext cx="396671" cy="365078"/>
            <a:chOff x="0" y="0"/>
            <a:chExt cx="574040" cy="528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05" id="105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2630500" y="8513877"/>
            <a:ext cx="2719126" cy="905673"/>
            <a:chOff x="0" y="0"/>
            <a:chExt cx="3934968" cy="1310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34968" cy="1310640"/>
            </a:xfrm>
            <a:custGeom>
              <a:avLst/>
              <a:gdLst/>
              <a:ahLst/>
              <a:cxnLst/>
              <a:rect r="r" b="b" t="t" l="l"/>
              <a:pathLst>
                <a:path h="1310640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close/>
                </a:path>
              </a:pathLst>
            </a:custGeom>
            <a:blipFill>
              <a:blip r:embed="rId40"/>
              <a:stretch>
                <a:fillRect l="0" t="-38" r="0" b="-38"/>
              </a:stretch>
            </a:blip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299255" y="343322"/>
            <a:ext cx="16924249" cy="1788742"/>
          </a:xfrm>
          <a:custGeom>
            <a:avLst/>
            <a:gdLst/>
            <a:ahLst/>
            <a:cxnLst/>
            <a:rect r="r" b="b" t="t" l="l"/>
            <a:pathLst>
              <a:path h="1788742" w="16924249">
                <a:moveTo>
                  <a:pt x="0" y="0"/>
                </a:moveTo>
                <a:lnTo>
                  <a:pt x="16924249" y="0"/>
                </a:lnTo>
                <a:lnTo>
                  <a:pt x="16924249" y="1788742"/>
                </a:lnTo>
                <a:lnTo>
                  <a:pt x="0" y="1788742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graphicFrame>
        <p:nvGraphicFramePr>
          <p:cNvPr name="Table 121" id="121"/>
          <p:cNvGraphicFramePr>
            <a:graphicFrameLocks noGrp="true"/>
          </p:cNvGraphicFramePr>
          <p:nvPr/>
        </p:nvGraphicFramePr>
        <p:xfrm>
          <a:off x="591272" y="1579184"/>
          <a:ext cx="16340215" cy="7901308"/>
        </p:xfrm>
        <a:graphic>
          <a:graphicData uri="http://schemas.openxmlformats.org/drawingml/2006/table">
            <a:tbl>
              <a:tblPr/>
              <a:tblGrid>
                <a:gridCol w="1102076"/>
                <a:gridCol w="3788975"/>
                <a:gridCol w="1123434"/>
                <a:gridCol w="2436502"/>
                <a:gridCol w="2595704"/>
                <a:gridCol w="2636887"/>
                <a:gridCol w="2656637"/>
              </a:tblGrid>
              <a:tr h="1148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</a:tr>
              <a:tr h="1463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name="TextBox 122" id="122"/>
          <p:cNvSpPr txBox="true"/>
          <p:nvPr/>
        </p:nvSpPr>
        <p:spPr>
          <a:xfrm rot="0">
            <a:off x="651690" y="1863822"/>
            <a:ext cx="87701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S.NO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978509" y="1863822"/>
            <a:ext cx="29642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Title of the Paper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9097313" y="1597122"/>
            <a:ext cx="208216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Hardware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/Software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5678965" y="1863822"/>
            <a:ext cx="77271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Year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796513" y="1917063"/>
            <a:ext cx="162186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Inference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019990" y="33380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6.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19990" y="4631065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7.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019990" y="61461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8.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19990" y="7471883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9.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19990" y="876744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10.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6756902" y="1863822"/>
            <a:ext cx="160698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909941" y="4353442"/>
            <a:ext cx="3287143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Multi-Target Tracking with Collaborative Roadside Units Under Foggy Conditions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5678965" y="4305256"/>
            <a:ext cx="671247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JAN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6684408" y="6792872"/>
            <a:ext cx="2246273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 foggy 3D object detection using LiDAR-based perception and fog-aware processing.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4331263" y="6830079"/>
            <a:ext cx="2575050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Fog-aware processing preserves point-cloud features, enabling reliable 3D detection in poor visibility.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885683" y="6818073"/>
            <a:ext cx="3311401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</a:p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3D Vi</a:t>
            </a: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sion Object Detection for Autonomous Driving in Fog Using LiDAR</a:t>
            </a:r>
          </a:p>
          <a:p>
            <a:pPr algn="just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8" id="138"/>
          <p:cNvSpPr txBox="true"/>
          <p:nvPr/>
        </p:nvSpPr>
        <p:spPr>
          <a:xfrm rot="0">
            <a:off x="5643054" y="6964611"/>
            <a:ext cx="671247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APR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2025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6678241" y="8119387"/>
            <a:ext cx="2253127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Generate realistic foggy LiDAR data using WGAN–LSTM to improve 3D detector robustness without real fog data collection.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4331263" y="8144393"/>
            <a:ext cx="2575050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GAN-based fog simulation reduces real-world data dependence and improves autonomous vehicle perception robustness.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4331263" y="5491738"/>
            <a:ext cx="2575050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Fog-aware features and improved detection heads enhance bounding boxes and reliability for foggy perception.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909941" y="8211263"/>
            <a:ext cx="3287143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Simulation of LiDAR Under Fog with Generative Adversarial Networks for Robust 3D Object Detection</a:t>
            </a:r>
          </a:p>
          <a:p>
            <a:pPr algn="just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3" id="143"/>
          <p:cNvSpPr txBox="true"/>
          <p:nvPr/>
        </p:nvSpPr>
        <p:spPr>
          <a:xfrm rot="0">
            <a:off x="5643054" y="8246888"/>
            <a:ext cx="670322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OCT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2025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6684408" y="2736973"/>
            <a:ext cx="2246273" cy="13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Enhance performance in foggy-weather using a cost-effective vehicle detection system for distance, speed, and TTC-based collision warnings.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9130706" y="2802765"/>
            <a:ext cx="2475661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SimYOLO-V5s_WIOU detector, Deep-SORT-based tracking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RGB cameras with edge-capable platforms for real-time inference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4331263" y="2727448"/>
            <a:ext cx="2600224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SimSPPF </a:t>
            </a: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and Wise-IoU improve fog detection reliability, while robust tracking and TTC-based warnings support safer collision avoidance.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909941" y="5571007"/>
            <a:ext cx="3287143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Fog-YOLO: A Real-Time Object Detector for Foggy Autonomous Driving Scenarios</a:t>
            </a:r>
          </a:p>
          <a:p>
            <a:pPr algn="just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48" id="148"/>
          <p:cNvSpPr txBox="true"/>
          <p:nvPr/>
        </p:nvSpPr>
        <p:spPr>
          <a:xfrm rot="0">
            <a:off x="5607143" y="5551957"/>
            <a:ext cx="74306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FEB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 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6701429" y="4203278"/>
            <a:ext cx="2229939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 foggy roadside LiDAR tracking by reducing point-cloud noise and enabling collaborative multi-RSU perception.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6684408" y="5496144"/>
            <a:ext cx="2246273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Develop a low-latency, fog-robust detector for autonomous driving with improved accuracy.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1693857" y="2704081"/>
            <a:ext cx="2551681" cy="13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SimYOLO-V5s_WIOU improved fog detection accuracy (up to +17.45% mAP50) on foggy driving, enhanced tracking reliability, and enabled TTC-based graded collision warnings.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4331263" y="4217793"/>
            <a:ext cx="2575050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Noi</a:t>
            </a: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se-aware denoising and multi-RSU PHD fusion improve foggy LiDAR detection, range, and tracking stability.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909941" y="2958597"/>
            <a:ext cx="3287143" cy="99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ECE-VDTDA: A Robust and Computationally Efficient Collision Avoidance System for Driver Assistance in Foggy Weather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5678965" y="2954118"/>
            <a:ext cx="671247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FEB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2468935" y="1863822"/>
            <a:ext cx="155495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Outcome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9097313" y="4187313"/>
            <a:ext cx="2596543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Roadside LiDAR-equipped RSUs for fog-affected traffic data collection. </a:t>
            </a: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Fog-noise removal using adaptive filtering and multi-RSU cooperative tracking with PHD filtering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9097313" y="5505669"/>
            <a:ext cx="2509054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RGB cameras with GPU-enabled platforms for real-time inference.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Fog-YOLO with fog-aware modules and improved detection head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9097313" y="6815680"/>
            <a:ext cx="2509054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Automotive LiDAR sensors evaluated under foggy conditions.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LiDAR-based 3D detection with fog-mitigation techniques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097313" y="8113914"/>
            <a:ext cx="2509054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Velodyne VLP-32C LiDAR with fog-chamber and onboard ROS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ROS-based LiDAR processing with WGAN-GP + LSTM fog simulation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1693857" y="4466724"/>
            <a:ext cx="2449787" cy="90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Improved detection accuracy by +8% (thin fog) and +29% (thick fog), with enhanced multi-class tracking performance.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1693857" y="5491738"/>
            <a:ext cx="2551681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Improved mAP over YOLO baseline with better small/occluded object detection in varying fog while maintaining real-time performance.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1693857" y="6830079"/>
            <a:ext cx="2551681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Improved 3D detection accuracy and recall under fog compared to uncompensated LiDAR baselines.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1677370" y="8125864"/>
            <a:ext cx="2568168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enerated 80,000 foggy LiDAR frames using WGAN–LSTM, improving 3D detector robustness and reducing the need for real fog data collection.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5678965" y="260993"/>
            <a:ext cx="6503432" cy="114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SURVEY</a:t>
            </a: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3480"/>
              </a:lnSpc>
            </a:pPr>
            <a:r>
              <a:rPr lang="en-US" b="true" sz="2872" spc="45">
                <a:solidFill>
                  <a:srgbClr val="8D9191"/>
                </a:solidFill>
                <a:latin typeface="Roboto Bold"/>
                <a:ea typeface="Roboto Bold"/>
                <a:cs typeface="Roboto Bold"/>
                <a:sym typeface="Roboto Bold"/>
              </a:rPr>
              <a:t>Study of the research work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82279" y="4800835"/>
            <a:ext cx="516120" cy="3435266"/>
            <a:chOff x="0" y="0"/>
            <a:chExt cx="746900" cy="4971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77155" y="4878080"/>
            <a:ext cx="396671" cy="365078"/>
            <a:chOff x="0" y="0"/>
            <a:chExt cx="574040" cy="528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968379" y="4886856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977155" y="5242456"/>
            <a:ext cx="396671" cy="362445"/>
            <a:chOff x="0" y="0"/>
            <a:chExt cx="574040" cy="524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968379" y="5233680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968379" y="5624208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968379" y="563035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977155" y="6016140"/>
            <a:ext cx="396671" cy="362445"/>
            <a:chOff x="0" y="0"/>
            <a:chExt cx="574040" cy="524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968379" y="6007364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977155" y="6378409"/>
            <a:ext cx="396671" cy="365078"/>
            <a:chOff x="0" y="0"/>
            <a:chExt cx="574040" cy="528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5968379" y="6369633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977155" y="6742784"/>
            <a:ext cx="396671" cy="365078"/>
            <a:chOff x="0" y="0"/>
            <a:chExt cx="574040" cy="52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5968379" y="673400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977155" y="7109266"/>
            <a:ext cx="396671" cy="365078"/>
            <a:chOff x="0" y="0"/>
            <a:chExt cx="574040" cy="528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968379" y="7100490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5977155" y="7486279"/>
            <a:ext cx="396671" cy="365078"/>
            <a:chOff x="0" y="0"/>
            <a:chExt cx="574040" cy="528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5968379" y="7477503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5977155" y="7846442"/>
            <a:ext cx="396671" cy="365078"/>
            <a:chOff x="0" y="0"/>
            <a:chExt cx="574040" cy="528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5968379" y="7837666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06276" y="8539291"/>
            <a:ext cx="3755525" cy="516120"/>
            <a:chOff x="0" y="0"/>
            <a:chExt cx="5434787" cy="74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63214" y="8648911"/>
            <a:ext cx="400181" cy="396671"/>
            <a:chOff x="0" y="0"/>
            <a:chExt cx="579120" cy="574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454438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863395" y="8648911"/>
            <a:ext cx="400181" cy="396671"/>
            <a:chOff x="0" y="0"/>
            <a:chExt cx="579120" cy="574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854619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2280426" y="8648911"/>
            <a:ext cx="400181" cy="396671"/>
            <a:chOff x="0" y="0"/>
            <a:chExt cx="57912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2271650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2695351" y="8648911"/>
            <a:ext cx="400181" cy="396671"/>
            <a:chOff x="0" y="0"/>
            <a:chExt cx="579120" cy="574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2686575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095532" y="8648911"/>
            <a:ext cx="400181" cy="396671"/>
            <a:chOff x="0" y="0"/>
            <a:chExt cx="579120" cy="574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3086756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495713" y="8648911"/>
            <a:ext cx="400181" cy="396671"/>
            <a:chOff x="0" y="0"/>
            <a:chExt cx="579120" cy="574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3486937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900107" y="8648911"/>
            <a:ext cx="400181" cy="396671"/>
            <a:chOff x="0" y="0"/>
            <a:chExt cx="579120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3891331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4312926" y="8648911"/>
            <a:ext cx="400181" cy="396671"/>
            <a:chOff x="0" y="0"/>
            <a:chExt cx="579120" cy="574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4304150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711001" y="8648911"/>
            <a:ext cx="400181" cy="396671"/>
            <a:chOff x="0" y="0"/>
            <a:chExt cx="579120" cy="574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4702225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5882279" y="4800835"/>
            <a:ext cx="516120" cy="3435266"/>
            <a:chOff x="0" y="0"/>
            <a:chExt cx="746900" cy="497132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5977155" y="4878080"/>
            <a:ext cx="396671" cy="365078"/>
            <a:chOff x="0" y="0"/>
            <a:chExt cx="574040" cy="528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5977155" y="4886856"/>
            <a:ext cx="396671" cy="365078"/>
            <a:chOff x="0" y="0"/>
            <a:chExt cx="574040" cy="528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977155" y="5242456"/>
            <a:ext cx="396671" cy="362445"/>
            <a:chOff x="0" y="0"/>
            <a:chExt cx="574040" cy="52451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15968379" y="5236313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5977155" y="5639127"/>
            <a:ext cx="396671" cy="365078"/>
            <a:chOff x="0" y="0"/>
            <a:chExt cx="574040" cy="528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5968379" y="563035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5977155" y="6016140"/>
            <a:ext cx="396671" cy="362445"/>
            <a:chOff x="0" y="0"/>
            <a:chExt cx="574040" cy="52451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5968379" y="6007364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5977155" y="6378409"/>
            <a:ext cx="396671" cy="365078"/>
            <a:chOff x="0" y="0"/>
            <a:chExt cx="574040" cy="5283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5968379" y="6369633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5977155" y="6742784"/>
            <a:ext cx="396671" cy="365078"/>
            <a:chOff x="0" y="0"/>
            <a:chExt cx="574040" cy="5283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5968379" y="673400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5977155" y="7109266"/>
            <a:ext cx="396671" cy="365078"/>
            <a:chOff x="0" y="0"/>
            <a:chExt cx="574040" cy="528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5968379" y="7100490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5977155" y="7486279"/>
            <a:ext cx="396671" cy="365078"/>
            <a:chOff x="0" y="0"/>
            <a:chExt cx="574040" cy="5283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5968379" y="7477503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5977155" y="7846442"/>
            <a:ext cx="396671" cy="365078"/>
            <a:chOff x="0" y="0"/>
            <a:chExt cx="574040" cy="5283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15968379" y="7837666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406276" y="8539291"/>
            <a:ext cx="3755525" cy="516120"/>
            <a:chOff x="0" y="0"/>
            <a:chExt cx="5434787" cy="7469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63214" y="8648911"/>
            <a:ext cx="400181" cy="396671"/>
            <a:chOff x="0" y="0"/>
            <a:chExt cx="579120" cy="574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454438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863395" y="8648911"/>
            <a:ext cx="400181" cy="396671"/>
            <a:chOff x="0" y="0"/>
            <a:chExt cx="579120" cy="574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854619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2280426" y="8648911"/>
            <a:ext cx="400181" cy="396671"/>
            <a:chOff x="0" y="0"/>
            <a:chExt cx="579120" cy="574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2271650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2695351" y="8648911"/>
            <a:ext cx="400181" cy="396671"/>
            <a:chOff x="0" y="0"/>
            <a:chExt cx="579120" cy="574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2686575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3095532" y="8648911"/>
            <a:ext cx="400181" cy="396671"/>
            <a:chOff x="0" y="0"/>
            <a:chExt cx="579120" cy="574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05" id="105"/>
          <p:cNvSpPr/>
          <p:nvPr/>
        </p:nvSpPr>
        <p:spPr>
          <a:xfrm flipH="false" flipV="false" rot="0">
            <a:off x="3086756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3495713" y="8648911"/>
            <a:ext cx="400181" cy="396671"/>
            <a:chOff x="0" y="0"/>
            <a:chExt cx="579120" cy="5740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3486937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3900107" y="8648911"/>
            <a:ext cx="400181" cy="396671"/>
            <a:chOff x="0" y="0"/>
            <a:chExt cx="579120" cy="5740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3891331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4312926" y="8648911"/>
            <a:ext cx="400181" cy="396671"/>
            <a:chOff x="0" y="0"/>
            <a:chExt cx="579120" cy="574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4304150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4711001" y="8648911"/>
            <a:ext cx="400181" cy="396671"/>
            <a:chOff x="0" y="0"/>
            <a:chExt cx="579120" cy="5740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4702225" y="8640135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2598783" y="8471989"/>
            <a:ext cx="2719126" cy="905673"/>
            <a:chOff x="0" y="0"/>
            <a:chExt cx="3934968" cy="1310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34968" cy="1310640"/>
            </a:xfrm>
            <a:custGeom>
              <a:avLst/>
              <a:gdLst/>
              <a:ahLst/>
              <a:cxnLst/>
              <a:rect r="r" b="b" t="t" l="l"/>
              <a:pathLst>
                <a:path h="1310640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close/>
                </a:path>
              </a:pathLst>
            </a:custGeom>
            <a:blipFill>
              <a:blip r:embed="rId40"/>
              <a:stretch>
                <a:fillRect l="0" t="-38" r="0" b="-38"/>
              </a:stretch>
            </a:blip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267538" y="301434"/>
            <a:ext cx="16924249" cy="1788742"/>
          </a:xfrm>
          <a:custGeom>
            <a:avLst/>
            <a:gdLst/>
            <a:ahLst/>
            <a:cxnLst/>
            <a:rect r="r" b="b" t="t" l="l"/>
            <a:pathLst>
              <a:path h="1788742" w="16924249">
                <a:moveTo>
                  <a:pt x="0" y="0"/>
                </a:moveTo>
                <a:lnTo>
                  <a:pt x="16924249" y="0"/>
                </a:lnTo>
                <a:lnTo>
                  <a:pt x="16924249" y="1788741"/>
                </a:lnTo>
                <a:lnTo>
                  <a:pt x="0" y="1788741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graphicFrame>
        <p:nvGraphicFramePr>
          <p:cNvPr name="Table 121" id="121"/>
          <p:cNvGraphicFramePr>
            <a:graphicFrameLocks noGrp="true"/>
          </p:cNvGraphicFramePr>
          <p:nvPr/>
        </p:nvGraphicFramePr>
        <p:xfrm>
          <a:off x="559555" y="1537295"/>
          <a:ext cx="16402238" cy="7901308"/>
        </p:xfrm>
        <a:graphic>
          <a:graphicData uri="http://schemas.openxmlformats.org/drawingml/2006/table">
            <a:tbl>
              <a:tblPr/>
              <a:tblGrid>
                <a:gridCol w="1102049"/>
                <a:gridCol w="3753912"/>
                <a:gridCol w="1235408"/>
                <a:gridCol w="2418372"/>
                <a:gridCol w="2584909"/>
                <a:gridCol w="2632441"/>
                <a:gridCol w="2675147"/>
              </a:tblGrid>
              <a:tr h="1148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</a:tr>
              <a:tr h="1463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name="TextBox 122" id="122"/>
          <p:cNvSpPr txBox="true"/>
          <p:nvPr/>
        </p:nvSpPr>
        <p:spPr>
          <a:xfrm rot="0">
            <a:off x="619973" y="1821934"/>
            <a:ext cx="87701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S.NO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854619" y="1821934"/>
            <a:ext cx="29642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Title of the Paper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9076091" y="1555234"/>
            <a:ext cx="208216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Hardware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/Software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5647248" y="1875174"/>
            <a:ext cx="77271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Year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764796" y="1875174"/>
            <a:ext cx="162186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Inference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988273" y="3296193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11.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988273" y="4589176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12.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988273" y="6104293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13.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988273" y="7429995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14.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88273" y="8725553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15.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7327399" y="1875174"/>
            <a:ext cx="160698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751481" y="4339329"/>
            <a:ext cx="2970402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Distributed acoustic sensing enables real-time traffic monitoring and vehicle motion-state prediction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5704838" y="4231355"/>
            <a:ext cx="715127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MAR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6682695" y="6741795"/>
            <a:ext cx="2393396" cy="113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develop an adaptive real-time vehicle detector that maintains accuracy in different fog conditions, especially for small or partially occluded vehicles.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4308033" y="6761787"/>
            <a:ext cx="265376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Adaptive switching improves accuracy and efficiency by using direct detection in light/moderate fog and defogging in dense fog. The 33.52 FPS suggests potential for real-time use.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805451" y="7113624"/>
            <a:ext cx="2872516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Adapt</a:t>
            </a: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ive</a:t>
            </a: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vehicle detection in foggy conditions based on improved YOLOv5.</a:t>
            </a:r>
          </a:p>
          <a:p>
            <a:pPr algn="just">
              <a:lnSpc>
                <a:spcPts val="1960"/>
              </a:lnSpc>
              <a:spcBef>
                <a:spcPct val="0"/>
              </a:spcBef>
            </a:pPr>
          </a:p>
        </p:txBody>
      </p:sp>
      <p:sp>
        <p:nvSpPr>
          <p:cNvPr name="TextBox 138" id="138"/>
          <p:cNvSpPr txBox="true"/>
          <p:nvPr/>
        </p:nvSpPr>
        <p:spPr>
          <a:xfrm rot="0">
            <a:off x="5697983" y="6977910"/>
            <a:ext cx="671247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JUL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6693346" y="8078189"/>
            <a:ext cx="2407193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examine how night, fog, and rain affect vehicle detection, review existing solutions and datasets, and identify challenges and future directions for robust autonomous-driving perception.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4295046" y="8080375"/>
            <a:ext cx="2666747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Reliable perception requires condition-aware processing for night, fog, and rain. GAN enhancement and YOLO detectors are useful, but robustness remains challenging. 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4332073" y="5515103"/>
            <a:ext cx="262972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Passive acoustic sensing can track multiple vehicles by accumulating weak signals over time. The LMB filter estimates vehicle count and tracks, useful in low-visibility conditions.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829709" y="8436406"/>
            <a:ext cx="2824000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Autonomus driving vehicle detection methods under different low light scnes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5696512" y="8307813"/>
            <a:ext cx="672718" cy="80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08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APR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  <a:r>
              <a:rPr lang="en-US" b="true" sz="230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6682695" y="2680789"/>
            <a:ext cx="2355296" cy="136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paper aims to develop a passive acoustic system for long-range vehicle detection and tracking, even in poor visibility and harsh outdoor conditions.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9076091" y="2728691"/>
            <a:ext cx="2481918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Beamforming, Accoustic source detection, , Tracking Algorithm, PCA, Sensor Fusion. </a:t>
            </a: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accoustic sensor array, optional acoustic baffle, data acquisition/recording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4332073" y="2680789"/>
            <a:ext cx="2684553" cy="113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assive acoustic arrays offer stealthy long-range tracking, with baffles improving outdoor performance. They can complement radar and optical sensors.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805451" y="5737494"/>
            <a:ext cx="2964299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4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Track-Before-Detect Based Multiple Vehicle Tracking with Stereo Microphone Arrays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5704838" y="5579692"/>
            <a:ext cx="745718" cy="80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08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APR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  <a:r>
              <a:rPr lang="en-US" b="true" sz="2308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 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6696167" y="4290023"/>
            <a:ext cx="243546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develop a DAS-based traffic monitoring system using RNNs with spatio-temporal attention, evaluating accuracy, efficiency, interpretability, and spatial transferability.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6712859" y="5527157"/>
            <a:ext cx="2402076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 track multiple vehicles in 2D using passive stereo microphones despite weak, noisy, or overlapping sounds, by jointly estimating their presence and trajectories.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1685449" y="2684645"/>
            <a:ext cx="2609598" cy="113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Field tests demonstrated reliable tracking up to 1 km, with the acoustic baffle reducing interference and improving signal quality.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4295046" y="4145293"/>
            <a:ext cx="2666747" cy="113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DAS + RNN</a:t>
            </a: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enable continuous traffic monitoring, with attention improving accuracy and efficiency. Spatial transferability supports scalable city-wide monitoring.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890128" y="3096078"/>
            <a:ext cx="270316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Long range vehicle detection and tracking using acoustic arrays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5647248" y="2836622"/>
            <a:ext cx="799814" cy="80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JUNE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2026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2313198" y="1744405"/>
            <a:ext cx="155495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Outcome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9088176" y="4211694"/>
            <a:ext cx="2566285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DAS Interrogator, Fiber infrastructure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Signal Processing, Feature extraction, ML/DL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9118566" y="5459375"/>
            <a:ext cx="2566883" cy="131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Multiple Microphones, Microphone Arrays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Track Before Detect, Measurement Whitening, Multi-bin angular sound-intensity processing, Labeled Multi-Bernoulli filter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9199916" y="6848147"/>
            <a:ext cx="2305992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Vehicle mounted cameras, LiDAR, Radar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GANs, YOLO, Image Processing Methods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114935" y="8093728"/>
            <a:ext cx="2404230" cy="1009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0"/>
              </a:lnSpc>
            </a:pPr>
            <a:r>
              <a:rPr lang="en-US" sz="115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Hardware: </a:t>
            </a:r>
            <a:r>
              <a:rPr lang="en-US" sz="11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Velodyne VLP-32C LiDAR with fog-chamber and onboard ROS</a:t>
            </a:r>
          </a:p>
          <a:p>
            <a:pPr algn="l">
              <a:lnSpc>
                <a:spcPts val="1610"/>
              </a:lnSpc>
              <a:spcBef>
                <a:spcPct val="0"/>
              </a:spcBef>
            </a:pPr>
            <a:r>
              <a:rPr lang="en-US" b="true" sz="115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Software: </a:t>
            </a:r>
            <a:r>
              <a:rPr lang="en-US" sz="11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ROS-based LiDAR processing with WGAN-GP + LSTM fog simulation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1685449" y="4187835"/>
            <a:ext cx="252341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study used DAS data to classify noise, cars, and buses, achieving ~89% accuracy. Attention improved efficiency and interpretability, with good cross-location transferability.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1685449" y="5459375"/>
            <a:ext cx="2560605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preprint presents a TBD-LMB filter with measurement whitening for multi-target acoustic tracking. Earlier work showed accurate, low-variance 2D tracking, but the abstract provides no numerical performance results.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1685449" y="6741795"/>
            <a:ext cx="2518846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achieves 97.7% mAP and 33.52 FPS, outperforming YOLOv5 by 4.2%. It handles light/medium fog directly, while dense fog uses GCA-Net defogging.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1654461" y="8100367"/>
            <a:ext cx="2580820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 paper provides a structured review of vehicle-detection methods, datasets, challenges, and future directions, with no new model, dataset, or quantitative results.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5647248" y="219105"/>
            <a:ext cx="6503432" cy="114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SURVEY</a:t>
            </a: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3480"/>
              </a:lnSpc>
            </a:pPr>
            <a:r>
              <a:rPr lang="en-US" b="true" sz="2872" spc="45">
                <a:solidFill>
                  <a:srgbClr val="8D9191"/>
                </a:solidFill>
                <a:latin typeface="Roboto Bold"/>
                <a:ea typeface="Roboto Bold"/>
                <a:cs typeface="Roboto Bold"/>
                <a:sym typeface="Roboto Bold"/>
              </a:rPr>
              <a:t>Study of the research work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3420" y="2170893"/>
            <a:ext cx="16072485" cy="7021667"/>
          </a:xfrm>
          <a:custGeom>
            <a:avLst/>
            <a:gdLst/>
            <a:ahLst/>
            <a:cxnLst/>
            <a:rect r="r" b="b" t="t" l="l"/>
            <a:pathLst>
              <a:path h="7021667" w="16072485">
                <a:moveTo>
                  <a:pt x="0" y="0"/>
                </a:moveTo>
                <a:lnTo>
                  <a:pt x="16072485" y="0"/>
                </a:lnTo>
                <a:lnTo>
                  <a:pt x="16072485" y="7021667"/>
                </a:lnTo>
                <a:lnTo>
                  <a:pt x="0" y="7021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3495" y="637035"/>
            <a:ext cx="1216152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RESEARCH GAP &amp; PROBLEM FORMULATION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50243" y="1796455"/>
            <a:ext cx="5411186" cy="2748883"/>
          </a:xfrm>
          <a:custGeom>
            <a:avLst/>
            <a:gdLst/>
            <a:ahLst/>
            <a:cxnLst/>
            <a:rect r="r" b="b" t="t" l="l"/>
            <a:pathLst>
              <a:path h="2748883" w="5411186">
                <a:moveTo>
                  <a:pt x="0" y="0"/>
                </a:moveTo>
                <a:lnTo>
                  <a:pt x="5411187" y="0"/>
                </a:lnTo>
                <a:lnTo>
                  <a:pt x="5411187" y="2748882"/>
                </a:lnTo>
                <a:lnTo>
                  <a:pt x="0" y="274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034166" y="5670255"/>
            <a:ext cx="3068584" cy="306858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0344" t="0" r="-10344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522777" y="5670255"/>
            <a:ext cx="3068584" cy="306858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167919" y="5590551"/>
            <a:ext cx="3068584" cy="306858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9431" y="5670255"/>
            <a:ext cx="3068584" cy="306858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4074" t="0" r="-24074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372111" y="5670255"/>
            <a:ext cx="3068584" cy="306858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0636" t="-9198" r="-29528" b="-156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232441" y="1732016"/>
            <a:ext cx="3068584" cy="30685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661194" y="1651365"/>
            <a:ext cx="3068584" cy="306858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39130" t="0" r="-3913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754678" y="1732016"/>
            <a:ext cx="3068584" cy="306858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10000" t="0" r="-1000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4094886" y="354789"/>
            <a:ext cx="9410799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HARDWARE COMPONENTS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82284" y="4462859"/>
            <a:ext cx="4574321" cy="86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"/>
              </a:lnSpc>
            </a:pPr>
          </a:p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b="true" sz="2500" spc="137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MAX4466 Analog Microphone Module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8812552"/>
            <a:ext cx="3387447" cy="26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00" spc="93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SSD1306 OLED Display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61430" y="5000625"/>
            <a:ext cx="4367357" cy="26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00" spc="93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ULTRASONIC SENSOR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37194" y="5000625"/>
            <a:ext cx="4403518" cy="32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  <a:spcBef>
                <a:spcPct val="0"/>
              </a:spcBef>
            </a:pPr>
            <a:r>
              <a:rPr lang="en-US" b="true" sz="2117" spc="11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B</a:t>
            </a:r>
            <a:r>
              <a:rPr lang="en-US" b="true" sz="2117" spc="11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UZZER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656848" y="8841162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LEDS AND RESISTORS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18533" y="8910289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BREADBOARD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73391" y="8933684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JUMPER WIRES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89519" y="8910289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USB CABLE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9431" y="5000625"/>
            <a:ext cx="4403518" cy="32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  <a:spcBef>
                <a:spcPct val="0"/>
              </a:spcBef>
            </a:pPr>
            <a:r>
              <a:rPr lang="en-US" b="true" sz="2117" spc="11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TM4C123GH6PM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5320" y="2141595"/>
            <a:ext cx="16154400" cy="6858000"/>
            <a:chOff x="0" y="0"/>
            <a:chExt cx="21539200" cy="914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392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21539200">
                  <a:moveTo>
                    <a:pt x="0" y="0"/>
                  </a:moveTo>
                  <a:lnTo>
                    <a:pt x="21539200" y="0"/>
                  </a:lnTo>
                  <a:lnTo>
                    <a:pt x="215392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9" t="-17871" r="-3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076723" y="737235"/>
            <a:ext cx="121615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PROPOSED 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59434" y="1508760"/>
            <a:ext cx="15973443" cy="7857557"/>
          </a:xfrm>
          <a:custGeom>
            <a:avLst/>
            <a:gdLst/>
            <a:ahLst/>
            <a:cxnLst/>
            <a:rect r="r" b="b" t="t" l="l"/>
            <a:pathLst>
              <a:path h="7857557" w="15973443">
                <a:moveTo>
                  <a:pt x="0" y="0"/>
                </a:moveTo>
                <a:lnTo>
                  <a:pt x="15973443" y="0"/>
                </a:lnTo>
                <a:lnTo>
                  <a:pt x="15973443" y="7857557"/>
                </a:lnTo>
                <a:lnTo>
                  <a:pt x="0" y="7857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34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89608" y="422910"/>
            <a:ext cx="1357509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360-DEGREE SENSOR ARRANGEMENT &amp; SPATIAL COVERAGE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89898" y="675322"/>
            <a:ext cx="1504027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SIMULATION MODEL: 4-CHANNEL TM4C123 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90511" y="5451718"/>
            <a:ext cx="14484019" cy="3796733"/>
          </a:xfrm>
          <a:custGeom>
            <a:avLst/>
            <a:gdLst/>
            <a:ahLst/>
            <a:cxnLst/>
            <a:rect r="r" b="b" t="t" l="l"/>
            <a:pathLst>
              <a:path h="3796733" w="14484019">
                <a:moveTo>
                  <a:pt x="0" y="0"/>
                </a:moveTo>
                <a:lnTo>
                  <a:pt x="14484018" y="0"/>
                </a:lnTo>
                <a:lnTo>
                  <a:pt x="14484018" y="3796733"/>
                </a:lnTo>
                <a:lnTo>
                  <a:pt x="0" y="3796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54324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29113" y="1741901"/>
            <a:ext cx="11249246" cy="3476676"/>
          </a:xfrm>
          <a:custGeom>
            <a:avLst/>
            <a:gdLst/>
            <a:ahLst/>
            <a:cxnLst/>
            <a:rect r="r" b="b" t="t" l="l"/>
            <a:pathLst>
              <a:path h="3476676" w="11249246">
                <a:moveTo>
                  <a:pt x="0" y="0"/>
                </a:moveTo>
                <a:lnTo>
                  <a:pt x="11249246" y="0"/>
                </a:lnTo>
                <a:lnTo>
                  <a:pt x="11249246" y="3476676"/>
                </a:lnTo>
                <a:lnTo>
                  <a:pt x="0" y="3476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414" r="0" b="-8429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75973" y="422910"/>
            <a:ext cx="1426377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HARDWARE ARCHITECTURE &amp; SUBSYSTEM INTERCONNECTS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40887" y="1697736"/>
            <a:ext cx="12338359" cy="7514680"/>
          </a:xfrm>
          <a:custGeom>
            <a:avLst/>
            <a:gdLst/>
            <a:ahLst/>
            <a:cxnLst/>
            <a:rect r="r" b="b" t="t" l="l"/>
            <a:pathLst>
              <a:path h="7514680" w="12338359">
                <a:moveTo>
                  <a:pt x="0" y="0"/>
                </a:moveTo>
                <a:lnTo>
                  <a:pt x="12338359" y="0"/>
                </a:lnTo>
                <a:lnTo>
                  <a:pt x="12338359" y="7514681"/>
                </a:lnTo>
                <a:lnTo>
                  <a:pt x="0" y="7514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46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837119" y="1508760"/>
            <a:ext cx="13785088" cy="780288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381125" y="310515"/>
            <a:ext cx="160782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VEHICLE DETECTION &amp; ALERT TO EACH CASE DEMO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762561" y="1145336"/>
            <a:ext cx="2779855" cy="4683072"/>
            <a:chOff x="0" y="0"/>
            <a:chExt cx="5227379" cy="880628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227379" cy="8806283"/>
            </a:xfrm>
            <a:custGeom>
              <a:avLst/>
              <a:gdLst/>
              <a:ahLst/>
              <a:cxnLst/>
              <a:rect r="r" b="b" t="t" l="l"/>
              <a:pathLst>
                <a:path h="8806283" w="5227379">
                  <a:moveTo>
                    <a:pt x="0" y="0"/>
                  </a:moveTo>
                  <a:lnTo>
                    <a:pt x="5227379" y="0"/>
                  </a:lnTo>
                  <a:lnTo>
                    <a:pt x="5227379" y="8806283"/>
                  </a:lnTo>
                  <a:lnTo>
                    <a:pt x="0" y="8806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174" t="0" r="-13174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902389" y="2227226"/>
            <a:ext cx="11337332" cy="5872163"/>
          </a:xfrm>
          <a:custGeom>
            <a:avLst/>
            <a:gdLst/>
            <a:ahLst/>
            <a:cxnLst/>
            <a:rect r="r" b="b" t="t" l="l"/>
            <a:pathLst>
              <a:path h="5872163" w="11337332">
                <a:moveTo>
                  <a:pt x="0" y="0"/>
                </a:moveTo>
                <a:lnTo>
                  <a:pt x="11337332" y="0"/>
                </a:lnTo>
                <a:lnTo>
                  <a:pt x="11337332" y="5872163"/>
                </a:lnTo>
                <a:lnTo>
                  <a:pt x="0" y="5872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03" t="0" r="-15156" b="-1602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1582804" y="4003615"/>
            <a:ext cx="3139370" cy="5052177"/>
          </a:xfrm>
          <a:custGeom>
            <a:avLst/>
            <a:gdLst/>
            <a:ahLst/>
            <a:cxnLst/>
            <a:rect r="r" b="b" t="t" l="l"/>
            <a:pathLst>
              <a:path h="5052177" w="3139370">
                <a:moveTo>
                  <a:pt x="0" y="0"/>
                </a:moveTo>
                <a:lnTo>
                  <a:pt x="3139370" y="0"/>
                </a:lnTo>
                <a:lnTo>
                  <a:pt x="3139370" y="5052177"/>
                </a:lnTo>
                <a:lnTo>
                  <a:pt x="0" y="5052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68842" y="614362"/>
            <a:ext cx="1312164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HARDWARE DEMONSTRATION &amp; PROTOTYPE SETUP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480" y="320040"/>
            <a:ext cx="16642080" cy="1188720"/>
            <a:chOff x="0" y="0"/>
            <a:chExt cx="22189440" cy="158496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189439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584960"/>
                  </a:lnTo>
                  <a:lnTo>
                    <a:pt x="0" y="1584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3983" r="0" b="-2398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8918" y="2009930"/>
            <a:ext cx="16067204" cy="6768310"/>
          </a:xfrm>
          <a:custGeom>
            <a:avLst/>
            <a:gdLst/>
            <a:ahLst/>
            <a:cxnLst/>
            <a:rect r="r" b="b" t="t" l="l"/>
            <a:pathLst>
              <a:path h="6768310" w="16067204">
                <a:moveTo>
                  <a:pt x="0" y="0"/>
                </a:moveTo>
                <a:lnTo>
                  <a:pt x="16067204" y="0"/>
                </a:lnTo>
                <a:lnTo>
                  <a:pt x="16067204" y="6768310"/>
                </a:lnTo>
                <a:lnTo>
                  <a:pt x="0" y="6768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06839" y="584835"/>
            <a:ext cx="1216152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637" y="798242"/>
            <a:ext cx="16568488" cy="1751141"/>
          </a:xfrm>
          <a:custGeom>
            <a:avLst/>
            <a:gdLst/>
            <a:ahLst/>
            <a:cxnLst/>
            <a:rect r="r" b="b" t="t" l="l"/>
            <a:pathLst>
              <a:path h="1751141" w="16568488">
                <a:moveTo>
                  <a:pt x="0" y="0"/>
                </a:moveTo>
                <a:lnTo>
                  <a:pt x="16568488" y="0"/>
                </a:lnTo>
                <a:lnTo>
                  <a:pt x="16568488" y="1751141"/>
                </a:lnTo>
                <a:lnTo>
                  <a:pt x="0" y="1751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17765137" cy="10126128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621880" y="3166417"/>
            <a:ext cx="13834002" cy="3496230"/>
          </a:xfrm>
          <a:custGeom>
            <a:avLst/>
            <a:gdLst/>
            <a:ahLst/>
            <a:cxnLst/>
            <a:rect r="r" b="b" t="t" l="l"/>
            <a:pathLst>
              <a:path h="3496230" w="13834002">
                <a:moveTo>
                  <a:pt x="0" y="0"/>
                </a:moveTo>
                <a:lnTo>
                  <a:pt x="13834002" y="0"/>
                </a:lnTo>
                <a:lnTo>
                  <a:pt x="13834002" y="3496229"/>
                </a:lnTo>
                <a:lnTo>
                  <a:pt x="0" y="34962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06087" y="3879532"/>
            <a:ext cx="11849796" cy="278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51"/>
              </a:lnSpc>
            </a:pPr>
            <a:r>
              <a:rPr lang="en-US" b="true" sz="18051" spc="-667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 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DAHWCIiXbow</dc:identifier>
  <dcterms:modified xsi:type="dcterms:W3CDTF">2011-08-01T06:04:30Z</dcterms:modified>
  <cp:revision>1</cp:revision>
  <dc:title>Review_3_GhostSense_Edge_AI_Fog_Detection.pptx</dc:title>
</cp:coreProperties>
</file>