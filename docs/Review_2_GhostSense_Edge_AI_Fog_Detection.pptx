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7462500" cy="9753600"/>
  <p:notesSz cx="6858000" cy="9144000"/>
  <p:embeddedFontLst>
    <p:embeddedFont>
      <p:font typeface="Calibri (MS)" charset="1" panose="020F0502020204030204"/>
      <p:regular r:id="rId22"/>
    </p:embeddedFont>
    <p:embeddedFont>
      <p:font typeface="Times New Roman Bold" charset="1" panose="02020803070505020304"/>
      <p:regular r:id="rId23"/>
    </p:embeddedFont>
    <p:embeddedFont>
      <p:font typeface="Times New Roman" charset="1" panose="02020603050405020304"/>
      <p:regular r:id="rId24"/>
    </p:embeddedFont>
    <p:embeddedFont>
      <p:font typeface="Barlow Bold Bold" charset="1" panose="00000900000000000000"/>
      <p:regular r:id="rId25"/>
    </p:embeddedFont>
    <p:embeddedFont>
      <p:font typeface="Arial MT Pro" charset="1" panose="020B0502020202020204"/>
      <p:regular r:id="rId26"/>
    </p:embeddedFont>
    <p:embeddedFont>
      <p:font typeface="Barlow Medium" charset="1" panose="00000600000000000000"/>
      <p:regular r:id="rId27"/>
    </p:embeddedFont>
    <p:embeddedFont>
      <p:font typeface="Barlow Bold" charset="1" panose="00000800000000000000"/>
      <p:regular r:id="rId28"/>
    </p:embeddedFont>
    <p:embeddedFont>
      <p:font typeface="Roboto Bold" charset="1" panose="02000000000000000000"/>
      <p:regular r:id="rId29"/>
    </p:embeddedFont>
    <p:embeddedFont>
      <p:font typeface="Aileron Bold" charset="1" panose="00000800000000000000"/>
      <p:regular r:id="rId30"/>
    </p:embeddedFont>
    <p:embeddedFont>
      <p:font typeface="Roboto" charset="1" panose="02000000000000000000"/>
      <p:regular r:id="rId31"/>
    </p:embeddedFont>
    <p:embeddedFont>
      <p:font typeface="Roboto Condensed" charset="1" panose="02000000000000000000"/>
      <p:regular r:id="rId32"/>
    </p:embeddedFont>
    <p:embeddedFont>
      <p:font typeface="The Seasons Bold" charset="1" panose="000000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svg" Type="http://schemas.openxmlformats.org/officeDocument/2006/relationships/image"/><Relationship Id="rId21" Target="../media/image25.pn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24" Target="../media/image28.png" Type="http://schemas.openxmlformats.org/officeDocument/2006/relationships/image"/><Relationship Id="rId25" Target="../media/image29.svg" Type="http://schemas.openxmlformats.org/officeDocument/2006/relationships/image"/><Relationship Id="rId26" Target="../media/image30.png" Type="http://schemas.openxmlformats.org/officeDocument/2006/relationships/image"/><Relationship Id="rId27" Target="../media/image31.svg" Type="http://schemas.openxmlformats.org/officeDocument/2006/relationships/image"/><Relationship Id="rId28" Target="../media/image32.png" Type="http://schemas.openxmlformats.org/officeDocument/2006/relationships/image"/><Relationship Id="rId29" Target="../media/image33.svg" Type="http://schemas.openxmlformats.org/officeDocument/2006/relationships/image"/><Relationship Id="rId3" Target="../media/image7.png" Type="http://schemas.openxmlformats.org/officeDocument/2006/relationships/image"/><Relationship Id="rId30" Target="../media/image34.png" Type="http://schemas.openxmlformats.org/officeDocument/2006/relationships/image"/><Relationship Id="rId31" Target="../media/image35.svg" Type="http://schemas.openxmlformats.org/officeDocument/2006/relationships/image"/><Relationship Id="rId32" Target="../media/image36.png" Type="http://schemas.openxmlformats.org/officeDocument/2006/relationships/image"/><Relationship Id="rId33" Target="../media/image37.svg" Type="http://schemas.openxmlformats.org/officeDocument/2006/relationships/image"/><Relationship Id="rId34" Target="../media/image38.png" Type="http://schemas.openxmlformats.org/officeDocument/2006/relationships/image"/><Relationship Id="rId35" Target="../media/image39.svg" Type="http://schemas.openxmlformats.org/officeDocument/2006/relationships/image"/><Relationship Id="rId36" Target="../media/image40.png" Type="http://schemas.openxmlformats.org/officeDocument/2006/relationships/image"/><Relationship Id="rId37" Target="../media/image41.svg" Type="http://schemas.openxmlformats.org/officeDocument/2006/relationships/image"/><Relationship Id="rId38" Target="../media/image42.png" Type="http://schemas.openxmlformats.org/officeDocument/2006/relationships/image"/><Relationship Id="rId39" Target="../media/image43.svg" Type="http://schemas.openxmlformats.org/officeDocument/2006/relationships/image"/><Relationship Id="rId4" Target="../media/image8.svg" Type="http://schemas.openxmlformats.org/officeDocument/2006/relationships/image"/><Relationship Id="rId40" Target="../media/image44.jpeg" Type="http://schemas.openxmlformats.org/officeDocument/2006/relationships/image"/><Relationship Id="rId41" Target="../media/image1.png" Type="http://schemas.openxmlformats.org/officeDocument/2006/relationships/image"/><Relationship Id="rId42" Target="https://ieeexplore.ieee.org/abstract/document/11363414" TargetMode="External" Type="http://schemas.openxmlformats.org/officeDocument/2006/relationships/hyperlink"/><Relationship Id="rId43" Target="https://journals.sagepub.com/doi/abs/10.1177/09544070251327229" TargetMode="External" Type="http://schemas.openxmlformats.org/officeDocument/2006/relationships/hyperlink"/><Relationship Id="rId44" Target="https://link.springer.com/article/10.1007/s41810-024-00281-1" TargetMode="External" Type="http://schemas.openxmlformats.org/officeDocument/2006/relationships/hyperlink"/><Relationship Id="rId45" Target="https://www.mdpi.com/2071-1050/18/2/625" TargetMode="External" Type="http://schemas.openxmlformats.org/officeDocument/2006/relationships/hyperlink"/><Relationship Id="rId46" Target="https://www.mdpi.com/1424-8220/26/6/1811" TargetMode="External" Type="http://schemas.openxmlformats.org/officeDocument/2006/relationships/hyperlink"/><Relationship Id="rId47" Target="https://link.springer.com/article/10.1007/s41810-024-00281-1" TargetMode="External" Type="http://schemas.openxmlformats.org/officeDocument/2006/relationships/hyperlink"/><Relationship Id="rId48" Target="https://www.mdpi.com/1424-8220/26/12/3728" TargetMode="External" Type="http://schemas.openxmlformats.org/officeDocument/2006/relationships/hyperlink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19" Target="../media/image23.png" Type="http://schemas.openxmlformats.org/officeDocument/2006/relationships/image"/><Relationship Id="rId2" Target="../media/image6.png" Type="http://schemas.openxmlformats.org/officeDocument/2006/relationships/image"/><Relationship Id="rId20" Target="../media/image24.svg" Type="http://schemas.openxmlformats.org/officeDocument/2006/relationships/image"/><Relationship Id="rId21" Target="../media/image25.png" Type="http://schemas.openxmlformats.org/officeDocument/2006/relationships/image"/><Relationship Id="rId22" Target="../media/image26.png" Type="http://schemas.openxmlformats.org/officeDocument/2006/relationships/image"/><Relationship Id="rId23" Target="../media/image27.svg" Type="http://schemas.openxmlformats.org/officeDocument/2006/relationships/image"/><Relationship Id="rId24" Target="../media/image28.png" Type="http://schemas.openxmlformats.org/officeDocument/2006/relationships/image"/><Relationship Id="rId25" Target="../media/image29.svg" Type="http://schemas.openxmlformats.org/officeDocument/2006/relationships/image"/><Relationship Id="rId26" Target="../media/image30.png" Type="http://schemas.openxmlformats.org/officeDocument/2006/relationships/image"/><Relationship Id="rId27" Target="../media/image31.svg" Type="http://schemas.openxmlformats.org/officeDocument/2006/relationships/image"/><Relationship Id="rId28" Target="../media/image32.png" Type="http://schemas.openxmlformats.org/officeDocument/2006/relationships/image"/><Relationship Id="rId29" Target="../media/image33.svg" Type="http://schemas.openxmlformats.org/officeDocument/2006/relationships/image"/><Relationship Id="rId3" Target="../media/image7.png" Type="http://schemas.openxmlformats.org/officeDocument/2006/relationships/image"/><Relationship Id="rId30" Target="../media/image34.png" Type="http://schemas.openxmlformats.org/officeDocument/2006/relationships/image"/><Relationship Id="rId31" Target="../media/image35.svg" Type="http://schemas.openxmlformats.org/officeDocument/2006/relationships/image"/><Relationship Id="rId32" Target="../media/image36.png" Type="http://schemas.openxmlformats.org/officeDocument/2006/relationships/image"/><Relationship Id="rId33" Target="../media/image37.svg" Type="http://schemas.openxmlformats.org/officeDocument/2006/relationships/image"/><Relationship Id="rId34" Target="../media/image38.png" Type="http://schemas.openxmlformats.org/officeDocument/2006/relationships/image"/><Relationship Id="rId35" Target="../media/image39.svg" Type="http://schemas.openxmlformats.org/officeDocument/2006/relationships/image"/><Relationship Id="rId36" Target="../media/image40.png" Type="http://schemas.openxmlformats.org/officeDocument/2006/relationships/image"/><Relationship Id="rId37" Target="../media/image41.svg" Type="http://schemas.openxmlformats.org/officeDocument/2006/relationships/image"/><Relationship Id="rId38" Target="../media/image42.png" Type="http://schemas.openxmlformats.org/officeDocument/2006/relationships/image"/><Relationship Id="rId39" Target="../media/image43.svg" Type="http://schemas.openxmlformats.org/officeDocument/2006/relationships/image"/><Relationship Id="rId4" Target="../media/image8.svg" Type="http://schemas.openxmlformats.org/officeDocument/2006/relationships/image"/><Relationship Id="rId40" Target="../media/image44.jpeg" Type="http://schemas.openxmlformats.org/officeDocument/2006/relationships/image"/><Relationship Id="rId41" Target="../media/image1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jpeg" Type="http://schemas.openxmlformats.org/officeDocument/2006/relationships/image"/><Relationship Id="rId2" Target="../media/image1.png" Type="http://schemas.openxmlformats.org/officeDocument/2006/relationships/image"/><Relationship Id="rId3" Target="../media/image50.jpeg" Type="http://schemas.openxmlformats.org/officeDocument/2006/relationships/image"/><Relationship Id="rId4" Target="../media/image51.png" Type="http://schemas.openxmlformats.org/officeDocument/2006/relationships/image"/><Relationship Id="rId5" Target="../media/image52.png" Type="http://schemas.openxmlformats.org/officeDocument/2006/relationships/image"/><Relationship Id="rId6" Target="../media/image53.png" Type="http://schemas.openxmlformats.org/officeDocument/2006/relationships/image"/><Relationship Id="rId7" Target="../media/image54.jpeg" Type="http://schemas.openxmlformats.org/officeDocument/2006/relationships/image"/><Relationship Id="rId8" Target="../media/image55.png" Type="http://schemas.openxmlformats.org/officeDocument/2006/relationships/image"/><Relationship Id="rId9" Target="../media/image56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9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1.jpeg" Type="http://schemas.openxmlformats.org/officeDocument/2006/relationships/image"/><Relationship Id="rId4" Target="../media/VAF7TAgvg14.mp4" Type="http://schemas.openxmlformats.org/officeDocument/2006/relationships/video"/><Relationship Id="rId5" Target="../media/VAF7TAgvg14.mp4" Type="http://schemas.microsoft.com/office/2007/relationships/media"/><Relationship Id="rId6" Target="../media/image62.png" Type="http://schemas.openxmlformats.org/officeDocument/2006/relationships/image"/><Relationship Id="rId7" Target="../media/image6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453407" y="8901522"/>
            <a:ext cx="3841616" cy="511326"/>
            <a:chOff x="0" y="0"/>
            <a:chExt cx="5486400" cy="7302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391" r="0" b="-96391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864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16"/>
                </a:lnSpc>
              </a:pPr>
              <a:r>
                <a:rPr lang="en-US" sz="1680">
                  <a:solidFill>
                    <a:srgbClr val="8989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988" y="4532724"/>
            <a:ext cx="17165364" cy="5079822"/>
            <a:chOff x="0" y="0"/>
            <a:chExt cx="24610266" cy="728302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610267" cy="7283011"/>
            </a:xfrm>
            <a:custGeom>
              <a:avLst/>
              <a:gdLst/>
              <a:ahLst/>
              <a:cxnLst/>
              <a:rect r="r" b="b" t="t" l="l"/>
              <a:pathLst>
                <a:path h="7283011" w="24610267">
                  <a:moveTo>
                    <a:pt x="0" y="0"/>
                  </a:moveTo>
                  <a:lnTo>
                    <a:pt x="24610267" y="0"/>
                  </a:lnTo>
                  <a:lnTo>
                    <a:pt x="24610267" y="7283011"/>
                  </a:lnTo>
                  <a:lnTo>
                    <a:pt x="0" y="7283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91000"/>
              </a:blip>
              <a:stretch>
                <a:fillRect l="0" t="-542" r="0" b="-54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17692" y="142153"/>
            <a:ext cx="4441503" cy="942137"/>
            <a:chOff x="0" y="0"/>
            <a:chExt cx="9727795" cy="20634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27760" cy="2063496"/>
            </a:xfrm>
            <a:custGeom>
              <a:avLst/>
              <a:gdLst/>
              <a:ahLst/>
              <a:cxnLst/>
              <a:rect r="r" b="b" t="t" l="l"/>
              <a:pathLst>
                <a:path h="2063496" w="9727760">
                  <a:moveTo>
                    <a:pt x="0" y="0"/>
                  </a:moveTo>
                  <a:lnTo>
                    <a:pt x="9727760" y="0"/>
                  </a:lnTo>
                  <a:lnTo>
                    <a:pt x="9727760" y="2063496"/>
                  </a:lnTo>
                  <a:lnTo>
                    <a:pt x="0" y="2063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2623" r="0" b="-17348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9021" y="1863907"/>
            <a:ext cx="16073610" cy="186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82"/>
              </a:lnSpc>
            </a:pPr>
            <a:r>
              <a:rPr lang="en-US" b="true" sz="606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Ghost Vehicle in Fog Detector Using Pressure Wave Sensing Before Headlights Appear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19880" y="4722896"/>
            <a:ext cx="6860484" cy="1453318"/>
            <a:chOff x="0" y="0"/>
            <a:chExt cx="9147311" cy="193775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2628862" y="-47625"/>
              <a:ext cx="3889586" cy="4746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2"/>
                </a:lnSpc>
                <a:spcBef>
                  <a:spcPct val="0"/>
                </a:spcBef>
              </a:pPr>
              <a:r>
                <a:rPr lang="en-US" b="true" sz="2137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Mentor 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464229"/>
              <a:ext cx="9147311" cy="14735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2"/>
                </a:lnSpc>
              </a:pPr>
              <a:r>
                <a:rPr lang="en-US" sz="2137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Dr. C. Ganesh Kumar</a:t>
              </a:r>
            </a:p>
            <a:p>
              <a:pPr algn="ctr">
                <a:lnSpc>
                  <a:spcPts val="2992"/>
                </a:lnSpc>
                <a:spcBef>
                  <a:spcPct val="0"/>
                </a:spcBef>
              </a:pPr>
              <a:r>
                <a:rPr lang="en-US" sz="2137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Chairperson, Department of Electronics and Communication Engineering, School of Computing, Chennai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21033" y="4722896"/>
            <a:ext cx="6398177" cy="1570448"/>
            <a:chOff x="0" y="0"/>
            <a:chExt cx="8530903" cy="2093931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1458835" y="-57150"/>
              <a:ext cx="5613234" cy="5235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67"/>
                </a:lnSpc>
                <a:spcBef>
                  <a:spcPct val="0"/>
                </a:spcBef>
              </a:pPr>
              <a:r>
                <a:rPr lang="en-US" b="true" sz="2334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Presented by :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77527"/>
              <a:ext cx="8530903" cy="1616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67"/>
                </a:lnSpc>
              </a:pPr>
              <a:r>
                <a:rPr lang="en-US" sz="23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Akshaya M V</a:t>
              </a:r>
              <a:r>
                <a:rPr lang="en-US" sz="23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- CH.EN.U4CCE24003</a:t>
              </a:r>
            </a:p>
            <a:p>
              <a:pPr algn="l">
                <a:lnSpc>
                  <a:spcPts val="3267"/>
                </a:lnSpc>
              </a:pPr>
              <a:r>
                <a:rPr lang="en-US" sz="23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Devadharshini P - CH.EN.U4CCE24004</a:t>
              </a:r>
            </a:p>
            <a:p>
              <a:pPr algn="l">
                <a:lnSpc>
                  <a:spcPts val="3267"/>
                </a:lnSpc>
                <a:spcBef>
                  <a:spcPct val="0"/>
                </a:spcBef>
              </a:pPr>
              <a:r>
                <a:rPr lang="en-US" sz="2334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 Mukesh - CH.EN.U4CCE24015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045286" y="369077"/>
            <a:ext cx="10073924" cy="51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75"/>
              </a:lnSpc>
              <a:spcBef>
                <a:spcPct val="0"/>
              </a:spcBef>
            </a:pPr>
            <a:r>
              <a:rPr lang="en-US" b="true" sz="3600" spc="-21">
                <a:solidFill>
                  <a:srgbClr val="FFFFFF"/>
                </a:solidFill>
                <a:latin typeface="Barlow Bold Bold"/>
                <a:ea typeface="Barlow Bold Bold"/>
                <a:cs typeface="Barlow Bold Bold"/>
                <a:sym typeface="Barlow Bold Bold"/>
              </a:rPr>
              <a:t>Embedded Systems Project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9624"/>
            <a:ext cx="17468850" cy="8974353"/>
            <a:chOff x="0" y="0"/>
            <a:chExt cx="22583472" cy="116019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583510" cy="11601911"/>
            </a:xfrm>
            <a:custGeom>
              <a:avLst/>
              <a:gdLst/>
              <a:ahLst/>
              <a:cxnLst/>
              <a:rect r="r" b="b" t="t" l="l"/>
              <a:pathLst>
                <a:path h="11601911" w="22583510">
                  <a:moveTo>
                    <a:pt x="0" y="0"/>
                  </a:moveTo>
                  <a:lnTo>
                    <a:pt x="22583510" y="0"/>
                  </a:lnTo>
                  <a:lnTo>
                    <a:pt x="22583510" y="11601911"/>
                  </a:lnTo>
                  <a:lnTo>
                    <a:pt x="0" y="11601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4321" r="0" b="-4321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230638" y="1133489"/>
            <a:ext cx="3515880" cy="537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2"/>
              </a:lnSpc>
            </a:pPr>
            <a:r>
              <a:rPr lang="en-US" sz="2801" spc="50">
                <a:solidFill>
                  <a:srgbClr val="ECEEEF"/>
                </a:solidFill>
                <a:latin typeface="Arial MT Pro"/>
                <a:ea typeface="Arial MT Pro"/>
                <a:cs typeface="Arial MT Pro"/>
                <a:sym typeface="Arial MT Pro"/>
              </a:rPr>
              <a:t>The Edge-Al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66703" y="2080841"/>
            <a:ext cx="4159952" cy="1076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13" spc="25">
                <a:solidFill>
                  <a:srgbClr val="D9DDDE"/>
                </a:solidFill>
                <a:latin typeface="Arial MT Pro"/>
                <a:ea typeface="Arial MT Pro"/>
                <a:cs typeface="Arial MT Pro"/>
                <a:sym typeface="Arial MT Pro"/>
              </a:rPr>
              <a:t>A New Paradigm: Detecting approaching</a:t>
            </a:r>
          </a:p>
          <a:p>
            <a:pPr algn="l">
              <a:lnSpc>
                <a:spcPts val="1936"/>
              </a:lnSpc>
            </a:pPr>
            <a:r>
              <a:rPr lang="en-US" sz="1545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vehicles before they become visible by</a:t>
            </a:r>
          </a:p>
          <a:p>
            <a:pPr algn="l">
              <a:lnSpc>
                <a:spcPts val="2248"/>
              </a:lnSpc>
            </a:pPr>
            <a:r>
              <a:rPr lang="en-US" sz="1794">
                <a:solidFill>
                  <a:srgbClr val="D9DDDE"/>
                </a:solidFill>
                <a:latin typeface="Arial MT Pro"/>
                <a:ea typeface="Arial MT Pro"/>
                <a:cs typeface="Arial MT Pro"/>
                <a:sym typeface="Arial MT Pro"/>
              </a:rPr>
              <a:t>capturing the low-frequency pressure</a:t>
            </a:r>
          </a:p>
          <a:p>
            <a:pPr algn="l">
              <a:lnSpc>
                <a:spcPts val="1936"/>
              </a:lnSpc>
            </a:pPr>
            <a:r>
              <a:rPr lang="en-US" sz="1545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waves they push ahead of them.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0702" y="3720381"/>
            <a:ext cx="2425803" cy="37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8"/>
              </a:lnSpc>
            </a:pPr>
            <a:r>
              <a:rPr lang="en-US" sz="2163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The Invisible Threat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3122" y="4351478"/>
            <a:ext cx="4009592" cy="805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751">
                <a:solidFill>
                  <a:srgbClr val="B4B7B8"/>
                </a:solidFill>
                <a:latin typeface="Barlow Medium"/>
                <a:ea typeface="Barlow Medium"/>
                <a:cs typeface="Barlow Medium"/>
                <a:sym typeface="Barlow Medium"/>
              </a:rPr>
              <a:t>Dense fog critically reduces visual range</a:t>
            </a:r>
          </a:p>
          <a:p>
            <a:pPr algn="l">
              <a:lnSpc>
                <a:spcPts val="2098"/>
              </a:lnSpc>
            </a:pPr>
            <a:r>
              <a:rPr lang="en-US" sz="1751">
                <a:solidFill>
                  <a:srgbClr val="B4B7B8"/>
                </a:solidFill>
                <a:latin typeface="Barlow Medium"/>
                <a:ea typeface="Barlow Medium"/>
                <a:cs typeface="Barlow Medium"/>
                <a:sym typeface="Barlow Medium"/>
              </a:rPr>
              <a:t>on highways and rural roads, rendering</a:t>
            </a:r>
          </a:p>
          <a:p>
            <a:pPr algn="l">
              <a:lnSpc>
                <a:spcPts val="2164"/>
              </a:lnSpc>
            </a:pPr>
            <a:r>
              <a:rPr lang="en-US" sz="1806" spc="43">
                <a:solidFill>
                  <a:srgbClr val="B4B7B8"/>
                </a:solidFill>
                <a:latin typeface="Arial MT Pro"/>
                <a:ea typeface="Arial MT Pro"/>
                <a:cs typeface="Arial MT Pro"/>
                <a:sym typeface="Arial MT Pro"/>
              </a:rPr>
              <a:t>standard headlights ineffective.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2834" y="5684670"/>
            <a:ext cx="4751366" cy="101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8"/>
              </a:lnSpc>
            </a:pPr>
            <a:r>
              <a:rPr lang="en-US" sz="1751">
                <a:solidFill>
                  <a:srgbClr val="B4B7B8"/>
                </a:solidFill>
                <a:latin typeface="Barlow Medium"/>
                <a:ea typeface="Barlow Medium"/>
                <a:cs typeface="Barlow Medium"/>
                <a:sym typeface="Barlow Medium"/>
              </a:rPr>
              <a:t>Drivers face severely delayed detection of</a:t>
            </a:r>
          </a:p>
          <a:p>
            <a:pPr algn="l">
              <a:lnSpc>
                <a:spcPts val="2129"/>
              </a:lnSpc>
            </a:pPr>
            <a:r>
              <a:rPr lang="en-US" sz="1777" spc="51">
                <a:solidFill>
                  <a:srgbClr val="B4B7B8"/>
                </a:solidFill>
                <a:latin typeface="Arial MT Pro"/>
                <a:ea typeface="Arial MT Pro"/>
                <a:cs typeface="Arial MT Pro"/>
                <a:sym typeface="Arial MT Pro"/>
              </a:rPr>
              <a:t>approaching vehicles, drastically increasing</a:t>
            </a:r>
          </a:p>
          <a:p>
            <a:pPr algn="l">
              <a:lnSpc>
                <a:spcPts val="2129"/>
              </a:lnSpc>
            </a:pPr>
            <a:r>
              <a:rPr lang="en-US" sz="1777" spc="51">
                <a:solidFill>
                  <a:srgbClr val="B4B7B8"/>
                </a:solidFill>
                <a:latin typeface="Arial MT Pro"/>
                <a:ea typeface="Arial MT Pro"/>
                <a:cs typeface="Arial MT Pro"/>
                <a:sym typeface="Arial MT Pro"/>
              </a:rPr>
              <a:t>the likelihood of high-speed, catastrophic</a:t>
            </a:r>
          </a:p>
          <a:p>
            <a:pPr algn="l">
              <a:lnSpc>
                <a:spcPts val="1727"/>
              </a:lnSpc>
            </a:pPr>
            <a:r>
              <a:rPr lang="en-US" sz="1442">
                <a:solidFill>
                  <a:srgbClr val="B4B7B8"/>
                </a:solidFill>
                <a:latin typeface="Barlow Medium"/>
                <a:ea typeface="Barlow Medium"/>
                <a:cs typeface="Barlow Medium"/>
                <a:sym typeface="Barlow Medium"/>
              </a:rPr>
              <a:t>collisions.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20567" y="7895083"/>
            <a:ext cx="2696451" cy="300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4"/>
              </a:lnSpc>
            </a:pPr>
            <a:r>
              <a:rPr lang="en-US" sz="1595" spc="103">
                <a:solidFill>
                  <a:srgbClr val="D4C4AE"/>
                </a:solidFill>
                <a:latin typeface="Arial MT Pro"/>
                <a:ea typeface="Arial MT Pro"/>
                <a:cs typeface="Arial MT Pro"/>
                <a:sym typeface="Arial MT Pro"/>
              </a:rPr>
              <a:t>SENSE: Capture invisible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25784" y="8207540"/>
            <a:ext cx="3518417" cy="31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6"/>
              </a:lnSpc>
            </a:pPr>
            <a:r>
              <a:rPr lang="en-US" sz="1854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pressure disturbances generated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0844" y="8543441"/>
            <a:ext cx="1734149" cy="264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3"/>
              </a:lnSpc>
            </a:pPr>
            <a:r>
              <a:rPr lang="en-US" sz="1545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by moving vehicles.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480087" y="3762246"/>
            <a:ext cx="3919376" cy="990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0"/>
              </a:lnSpc>
            </a:pPr>
            <a:r>
              <a:rPr lang="en-US" sz="1710" spc="30">
                <a:solidFill>
                  <a:srgbClr val="D9DDDE"/>
                </a:solidFill>
                <a:latin typeface="Arial MT Pro"/>
                <a:ea typeface="Arial MT Pro"/>
                <a:cs typeface="Arial MT Pro"/>
                <a:sym typeface="Arial MT Pro"/>
              </a:rPr>
              <a:t>The Technology Stack: Utilising highly</a:t>
            </a:r>
          </a:p>
          <a:p>
            <a:pPr algn="l">
              <a:lnSpc>
                <a:spcPts val="1797"/>
              </a:lnSpc>
            </a:pPr>
            <a:r>
              <a:rPr lang="en-US" sz="1442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sensitive MEMS acoustic sensors, the</a:t>
            </a:r>
          </a:p>
          <a:p>
            <a:pPr algn="l">
              <a:lnSpc>
                <a:spcPts val="2053"/>
              </a:lnSpc>
            </a:pPr>
            <a:r>
              <a:rPr lang="en-US" sz="1648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system processes physical data locally</a:t>
            </a:r>
          </a:p>
          <a:p>
            <a:pPr algn="l">
              <a:lnSpc>
                <a:spcPts val="1668"/>
              </a:lnSpc>
            </a:pPr>
            <a:r>
              <a:rPr lang="en-US" sz="1339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on a Cortex-M microcontroller.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80087" y="5408160"/>
            <a:ext cx="4079760" cy="130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6"/>
              </a:lnSpc>
            </a:pPr>
            <a:r>
              <a:rPr lang="en-US" sz="1694" spc="40">
                <a:solidFill>
                  <a:srgbClr val="D9DDDE"/>
                </a:solidFill>
                <a:latin typeface="Arial MT Pro"/>
                <a:ea typeface="Arial MT Pro"/>
                <a:cs typeface="Arial MT Pro"/>
                <a:sym typeface="Arial MT Pro"/>
              </a:rPr>
              <a:t>Zero-Latency Intelligence: By deploying</a:t>
            </a:r>
          </a:p>
          <a:p>
            <a:pPr algn="l">
              <a:lnSpc>
                <a:spcPts val="2066"/>
              </a:lnSpc>
            </a:pPr>
            <a:r>
              <a:rPr lang="en-US" sz="1694" spc="40">
                <a:solidFill>
                  <a:srgbClr val="D9DDDE"/>
                </a:solidFill>
                <a:latin typeface="Arial MT Pro"/>
                <a:ea typeface="Arial MT Pro"/>
                <a:cs typeface="Arial MT Pro"/>
                <a:sym typeface="Arial MT Pro"/>
              </a:rPr>
              <a:t>TinyML and Edge-Al methodologies</a:t>
            </a:r>
          </a:p>
          <a:p>
            <a:pPr algn="l">
              <a:lnSpc>
                <a:spcPts val="2010"/>
              </a:lnSpc>
            </a:pPr>
            <a:r>
              <a:rPr lang="en-US" sz="1648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directly on the chip, we trigger life-saving</a:t>
            </a:r>
          </a:p>
          <a:p>
            <a:pPr algn="l">
              <a:lnSpc>
                <a:spcPts val="2010"/>
              </a:lnSpc>
            </a:pPr>
            <a:r>
              <a:rPr lang="en-US" sz="1648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early warnings without relying on cloud</a:t>
            </a:r>
          </a:p>
          <a:p>
            <a:pPr algn="l">
              <a:lnSpc>
                <a:spcPts val="2010"/>
              </a:lnSpc>
            </a:pPr>
            <a:r>
              <a:rPr lang="en-US" sz="1648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processing or visual line-of-sight.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04414" y="7933183"/>
            <a:ext cx="2576163" cy="7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6"/>
              </a:lnSpc>
            </a:pPr>
            <a:r>
              <a:rPr lang="en-US" sz="1442">
                <a:solidFill>
                  <a:srgbClr val="D4C4AE"/>
                </a:solidFill>
                <a:latin typeface="Barlow Bold"/>
                <a:ea typeface="Barlow Bold"/>
                <a:cs typeface="Barlow Bold"/>
                <a:sym typeface="Barlow Bold"/>
              </a:rPr>
              <a:t>PROCESS: Execute real-time</a:t>
            </a:r>
          </a:p>
          <a:p>
            <a:pPr algn="l">
              <a:lnSpc>
                <a:spcPts val="2190"/>
              </a:lnSpc>
            </a:pPr>
            <a:r>
              <a:rPr lang="en-US" sz="1648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signal analysis natively on a</a:t>
            </a:r>
          </a:p>
          <a:p>
            <a:pPr algn="l">
              <a:lnSpc>
                <a:spcPts val="1916"/>
              </a:lnSpc>
            </a:pPr>
            <a:r>
              <a:rPr lang="en-US" sz="1442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Cortex-M core.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97974" y="7946804"/>
            <a:ext cx="3097410" cy="752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648">
                <a:solidFill>
                  <a:srgbClr val="D4C4AE"/>
                </a:solidFill>
                <a:latin typeface="Barlow Bold"/>
                <a:ea typeface="Barlow Bold"/>
                <a:cs typeface="Barlow Bold"/>
                <a:sym typeface="Barlow Bold"/>
              </a:rPr>
              <a:t>WARN: Trigger immediate visual</a:t>
            </a:r>
          </a:p>
          <a:p>
            <a:pPr algn="l">
              <a:lnSpc>
                <a:spcPts val="2169"/>
              </a:lnSpc>
            </a:pPr>
            <a:r>
              <a:rPr lang="en-US" sz="1854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(LEDS/Display) and audible</a:t>
            </a:r>
          </a:p>
          <a:p>
            <a:pPr algn="l">
              <a:lnSpc>
                <a:spcPts val="1928"/>
              </a:lnSpc>
            </a:pPr>
            <a:r>
              <a:rPr lang="en-US" sz="1648">
                <a:solidFill>
                  <a:srgbClr val="D9DDDE"/>
                </a:solidFill>
                <a:latin typeface="Barlow Medium"/>
                <a:ea typeface="Barlow Medium"/>
                <a:cs typeface="Barlow Medium"/>
                <a:sym typeface="Barlow Medium"/>
              </a:rPr>
              <a:t>(Buzzer) driver alerts.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43951" y="763765"/>
            <a:ext cx="9912192" cy="1794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8"/>
              </a:lnSpc>
            </a:pPr>
            <a:r>
              <a:rPr lang="en-US" b="true" sz="5592" spc="307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INTRODUCTION </a:t>
            </a:r>
          </a:p>
          <a:p>
            <a:pPr algn="l">
              <a:lnSpc>
                <a:spcPts val="3697"/>
              </a:lnSpc>
            </a:pPr>
            <a:r>
              <a:rPr lang="en-US" b="true" sz="3050" spc="48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 Seeing the unseen: Predicting oncoming traffic before the headlights cut the fog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000096" y="492874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000096" y="527556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0096" y="5666096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008872" y="4928744"/>
            <a:ext cx="396671" cy="365078"/>
            <a:chOff x="0" y="0"/>
            <a:chExt cx="574040" cy="528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6000096" y="5278201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6008872" y="5681015"/>
            <a:ext cx="396671" cy="365078"/>
            <a:chOff x="0" y="0"/>
            <a:chExt cx="574040" cy="528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2630500" y="8513877"/>
            <a:ext cx="2719126" cy="905673"/>
            <a:chOff x="0" y="0"/>
            <a:chExt cx="3934968" cy="1310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34968" cy="1310640"/>
            </a:xfrm>
            <a:custGeom>
              <a:avLst/>
              <a:gdLst/>
              <a:ahLst/>
              <a:cxnLst/>
              <a:rect r="r" b="b" t="t" l="l"/>
              <a:pathLst>
                <a:path h="1310640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close/>
                </a:path>
              </a:pathLst>
            </a:custGeom>
            <a:blipFill>
              <a:blip r:embed="rId40"/>
              <a:stretch>
                <a:fillRect l="0" t="-38" r="0" b="-38"/>
              </a:stretch>
            </a:blip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299255" y="343322"/>
            <a:ext cx="16924249" cy="1788742"/>
          </a:xfrm>
          <a:custGeom>
            <a:avLst/>
            <a:gdLst/>
            <a:ahLst/>
            <a:cxnLst/>
            <a:rect r="r" b="b" t="t" l="l"/>
            <a:pathLst>
              <a:path h="1788742" w="16924249">
                <a:moveTo>
                  <a:pt x="0" y="0"/>
                </a:moveTo>
                <a:lnTo>
                  <a:pt x="16924249" y="0"/>
                </a:lnTo>
                <a:lnTo>
                  <a:pt x="16924249" y="1788742"/>
                </a:lnTo>
                <a:lnTo>
                  <a:pt x="0" y="1788742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graphicFrame>
        <p:nvGraphicFramePr>
          <p:cNvPr name="Table 121" id="121"/>
          <p:cNvGraphicFramePr>
            <a:graphicFrameLocks noGrp="true"/>
          </p:cNvGraphicFramePr>
          <p:nvPr/>
        </p:nvGraphicFramePr>
        <p:xfrm>
          <a:off x="591272" y="1579184"/>
          <a:ext cx="16340215" cy="7901308"/>
        </p:xfrm>
        <a:graphic>
          <a:graphicData uri="http://schemas.openxmlformats.org/drawingml/2006/table">
            <a:tbl>
              <a:tblPr/>
              <a:tblGrid>
                <a:gridCol w="1102076"/>
                <a:gridCol w="4316472"/>
                <a:gridCol w="1522616"/>
                <a:gridCol w="1821950"/>
                <a:gridCol w="2595704"/>
                <a:gridCol w="2490698"/>
                <a:gridCol w="2490698"/>
              </a:tblGrid>
              <a:tr h="114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</a:tr>
              <a:tr h="1463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name="TextBox 122" id="122"/>
          <p:cNvSpPr txBox="true"/>
          <p:nvPr/>
        </p:nvSpPr>
        <p:spPr>
          <a:xfrm rot="0">
            <a:off x="650856" y="1854297"/>
            <a:ext cx="8786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S.NO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295293" y="1854297"/>
            <a:ext cx="28392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of the Paper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9660304" y="1587597"/>
            <a:ext cx="20821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/Software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418192" y="1808171"/>
            <a:ext cx="76164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Year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838602" y="1907538"/>
            <a:ext cx="15376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19990" y="33380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1.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19990" y="4631065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2.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019990" y="61461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3.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19990" y="747188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4.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19990" y="876744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5.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7622908" y="1854297"/>
            <a:ext cx="15656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783197" y="4371693"/>
            <a:ext cx="4076364" cy="115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0"/>
              </a:lnSpc>
            </a:pPr>
            <a:r>
              <a:rPr lang="en-US" sz="129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Ensemble Artificial Intelligence Framework for Real-Time Automatic Vehicle Detection and Classifications</a:t>
            </a:r>
          </a:p>
          <a:p>
            <a:pPr algn="just">
              <a:lnSpc>
                <a:spcPts val="1810"/>
              </a:lnSpc>
            </a:pPr>
          </a:p>
          <a:p>
            <a:pPr algn="just">
              <a:lnSpc>
                <a:spcPts val="1810"/>
              </a:lnSpc>
            </a:pPr>
            <a:r>
              <a:rPr lang="en-US" sz="1293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2" tooltip="https://ieeexplore.ieee.org/abstract/document/11363414"/>
              </a:rPr>
              <a:t>https://ieeexplore.ieee.org/abstract/document/11363414</a:t>
            </a:r>
          </a:p>
          <a:p>
            <a:pPr algn="just">
              <a:lnSpc>
                <a:spcPts val="1810"/>
              </a:lnSpc>
              <a:spcBef>
                <a:spcPct val="0"/>
              </a:spcBef>
            </a:pPr>
          </a:p>
        </p:txBody>
      </p:sp>
      <p:sp>
        <p:nvSpPr>
          <p:cNvPr name="TextBox 134" id="134"/>
          <p:cNvSpPr txBox="true"/>
          <p:nvPr/>
        </p:nvSpPr>
        <p:spPr>
          <a:xfrm rot="0">
            <a:off x="6382139" y="4294824"/>
            <a:ext cx="641738" cy="81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May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7684584" y="6994708"/>
            <a:ext cx="1641328" cy="99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3D object detection in fog using enhanced camera-LiDAR fusion.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4508394" y="7022344"/>
            <a:ext cx="2423093" cy="503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3D perception, Virtual point clouds, Costly sensor fusion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861425" y="6916502"/>
            <a:ext cx="3749793" cy="1375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91"/>
              </a:lnSpc>
            </a:pPr>
            <a:r>
              <a:rPr lang="en-US" sz="11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FogFusion: Robust 3D object detection based on camera-LiDAR fusion for autonomous driving in foggy weather conditions</a:t>
            </a:r>
          </a:p>
          <a:p>
            <a:pPr algn="just">
              <a:lnSpc>
                <a:spcPts val="1591"/>
              </a:lnSpc>
            </a:pPr>
          </a:p>
          <a:p>
            <a:pPr algn="just">
              <a:lnSpc>
                <a:spcPts val="1591"/>
              </a:lnSpc>
            </a:pPr>
            <a:r>
              <a:rPr lang="en-US" sz="1137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3" tooltip="https://journals.sagepub.com/doi/abs/10.1177/09544070251327229"/>
              </a:rPr>
              <a:t>https://journals.sagepub.com/doi/abs/10.1177/09544070251327229</a:t>
            </a:r>
          </a:p>
          <a:p>
            <a:pPr algn="just">
              <a:lnSpc>
                <a:spcPts val="1591"/>
              </a:lnSpc>
              <a:spcBef>
                <a:spcPct val="0"/>
              </a:spcBef>
            </a:pPr>
          </a:p>
        </p:txBody>
      </p:sp>
      <p:sp>
        <p:nvSpPr>
          <p:cNvPr name="TextBox 138" id="138"/>
          <p:cNvSpPr txBox="true"/>
          <p:nvPr/>
        </p:nvSpPr>
        <p:spPr>
          <a:xfrm rot="0">
            <a:off x="6392999" y="7003294"/>
            <a:ext cx="698562" cy="81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7625839" y="8218295"/>
            <a:ext cx="1641328" cy="124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Estimate road visibility and driving risk under rain-fog conditions using roadside surveillance images.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4617411" y="8341157"/>
            <a:ext cx="1980074" cy="99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4"/>
              </a:lnSpc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Visibility estimation, Risk assessment, Infrastructure-based monitoring</a:t>
            </a:r>
          </a:p>
          <a:p>
            <a:pPr algn="just">
              <a:lnSpc>
                <a:spcPts val="1934"/>
              </a:lnSpc>
              <a:spcBef>
                <a:spcPct val="0"/>
              </a:spcBef>
            </a:pPr>
          </a:p>
        </p:txBody>
      </p:sp>
      <p:sp>
        <p:nvSpPr>
          <p:cNvPr name="TextBox 141" id="141"/>
          <p:cNvSpPr txBox="true"/>
          <p:nvPr/>
        </p:nvSpPr>
        <p:spPr>
          <a:xfrm rot="0">
            <a:off x="14544161" y="5690882"/>
            <a:ext cx="2318244" cy="702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9"/>
              </a:lnSpc>
              <a:spcBef>
                <a:spcPct val="0"/>
              </a:spcBef>
            </a:pPr>
            <a:r>
              <a:rPr lang="en-US" sz="13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Fog-aware feature enhancement, Real-time detection, Camera limitations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909941" y="8218295"/>
            <a:ext cx="3701278" cy="1316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06"/>
              </a:lnSpc>
            </a:pPr>
            <a:r>
              <a:rPr lang="en-US" sz="121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Visibility Recognition and Driving Risk Assessment Under Rain–Fog Conditions Using Monocular Surveillance Imagery</a:t>
            </a:r>
          </a:p>
          <a:p>
            <a:pPr algn="just">
              <a:lnSpc>
                <a:spcPts val="1706"/>
              </a:lnSpc>
            </a:pPr>
          </a:p>
          <a:p>
            <a:pPr algn="just">
              <a:lnSpc>
                <a:spcPts val="1706"/>
              </a:lnSpc>
            </a:pPr>
            <a:r>
              <a:rPr lang="en-US" sz="1218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4" tooltip="https://link.springer.com/article/10.1007/s41810-024-00281-1"/>
              </a:rPr>
              <a:t>h</a:t>
            </a:r>
            <a:r>
              <a:rPr lang="en-US" sz="1218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5" tooltip="https://www.mdpi.com/2071-1050/18/2/625"/>
              </a:rPr>
              <a:t>https://www.mdpi.com/2071-1050/18/2/625</a:t>
            </a:r>
          </a:p>
          <a:p>
            <a:pPr algn="just">
              <a:lnSpc>
                <a:spcPts val="1706"/>
              </a:lnSpc>
              <a:spcBef>
                <a:spcPct val="0"/>
              </a:spcBef>
            </a:pPr>
          </a:p>
        </p:txBody>
      </p:sp>
      <p:sp>
        <p:nvSpPr>
          <p:cNvPr name="TextBox 143" id="143"/>
          <p:cNvSpPr txBox="true"/>
          <p:nvPr/>
        </p:nvSpPr>
        <p:spPr>
          <a:xfrm rot="0">
            <a:off x="6448196" y="8248865"/>
            <a:ext cx="643364" cy="8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JAN 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b="true" sz="23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7733606" y="2748339"/>
            <a:ext cx="1393298" cy="12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  <a:spcBef>
                <a:spcPct val="0"/>
              </a:spcBef>
            </a:pP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obstacle detection in dense fog using adaptive multi-modal sensor fusion.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493343" y="2807967"/>
            <a:ext cx="2336109" cy="106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  <a:spcBef>
                <a:spcPct val="0"/>
              </a:spcBef>
            </a:pPr>
            <a:r>
              <a:rPr lang="en-US" b="true" sz="12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Gated Camera, 3D LiDAR. </a:t>
            </a:r>
            <a:r>
              <a:rPr lang="en-US" b="true" sz="12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</a:t>
            </a:r>
            <a:r>
              <a:rPr lang="en-US" sz="1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AFW-Net, Attention-based Adaptive Fusion, Uncertainty Estimation, Cross-modal Feature Extraction.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4467389" y="2880482"/>
            <a:ext cx="2395016" cy="75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  <a:spcBef>
                <a:spcPct val="0"/>
              </a:spcBef>
            </a:pP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Adaptive sensor weighting, Reliable sensor fusion, Robust fog perception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886336" y="5690787"/>
            <a:ext cx="3724883" cy="12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9"/>
              </a:lnSpc>
            </a:pPr>
            <a:r>
              <a:rPr lang="en-US" sz="138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FogGate-YOLO: Traffic Object Detection in Foggy Environments Using Channel Selection Mechanisms</a:t>
            </a:r>
          </a:p>
          <a:p>
            <a:pPr algn="just">
              <a:lnSpc>
                <a:spcPts val="1939"/>
              </a:lnSpc>
            </a:pPr>
            <a:r>
              <a:rPr lang="en-US" sz="1385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6" tooltip="https://www.mdpi.com/1424-8220/26/6/1811"/>
              </a:rPr>
              <a:t>https://www.mdpi.com/1424-8220/26/6/1811</a:t>
            </a:r>
          </a:p>
          <a:p>
            <a:pPr algn="just">
              <a:lnSpc>
                <a:spcPts val="1939"/>
              </a:lnSpc>
              <a:spcBef>
                <a:spcPct val="0"/>
              </a:spcBef>
            </a:pPr>
          </a:p>
        </p:txBody>
      </p:sp>
      <p:sp>
        <p:nvSpPr>
          <p:cNvPr name="TextBox 148" id="148"/>
          <p:cNvSpPr txBox="true"/>
          <p:nvPr/>
        </p:nvSpPr>
        <p:spPr>
          <a:xfrm rot="0">
            <a:off x="6257214" y="5658452"/>
            <a:ext cx="773423" cy="8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MAR 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b="true" sz="23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 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7797849" y="4235831"/>
            <a:ext cx="1297308" cy="1175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"/>
              </a:lnSpc>
              <a:spcBef>
                <a:spcPct val="0"/>
              </a:spcBef>
            </a:pPr>
            <a:r>
              <a:rPr lang="en-US" sz="10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ensemble AI framework for accurate vehicle detection and classification under adverse weather.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7658359" y="5534074"/>
            <a:ext cx="1666343" cy="124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5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lightweight object detector specifically optimized for foggy environments.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2126173" y="2890007"/>
            <a:ext cx="2157022" cy="95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82% AP at 50 m visibility, improving detection by 23.7% over conventional RGB-LiDAR fusion.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4670182" y="4418538"/>
            <a:ext cx="2119608" cy="75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9"/>
              </a:lnSpc>
              <a:spcBef>
                <a:spcPct val="0"/>
              </a:spcBef>
            </a:pP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learning, High detection accuracy, Vision-dependent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909941" y="2949072"/>
            <a:ext cx="3701278" cy="1386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</a:pPr>
            <a:r>
              <a:rPr lang="en-US" sz="13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Adaptive Sensor Fusion for Robust Perception in Dense Fog: A Gated Vision and LiDAR Integration Framework</a:t>
            </a:r>
          </a:p>
          <a:p>
            <a:pPr algn="just">
              <a:lnSpc>
                <a:spcPts val="1820"/>
              </a:lnSpc>
            </a:pPr>
          </a:p>
          <a:p>
            <a:pPr algn="just">
              <a:lnSpc>
                <a:spcPts val="1820"/>
              </a:lnSpc>
            </a:pPr>
            <a:r>
              <a:rPr lang="en-US" sz="13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7" tooltip="https://link.springer.com/article/10.1007/s41810-024-00281-1"/>
              </a:rPr>
              <a:t>h</a:t>
            </a:r>
            <a:r>
              <a:rPr lang="en-US" sz="13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8" tooltip="https://www.mdpi.com/1424-8220/26/12/3728"/>
              </a:rPr>
              <a:t>https://www.mdpi.com/1424-8220/26/12/3728</a:t>
            </a:r>
          </a:p>
          <a:p>
            <a:pPr algn="just">
              <a:lnSpc>
                <a:spcPts val="1820"/>
              </a:lnSpc>
              <a:spcBef>
                <a:spcPct val="0"/>
              </a:spcBef>
            </a:pPr>
          </a:p>
        </p:txBody>
      </p:sp>
      <p:sp>
        <p:nvSpPr>
          <p:cNvPr name="TextBox 154" id="154"/>
          <p:cNvSpPr txBox="true"/>
          <p:nvPr/>
        </p:nvSpPr>
        <p:spPr>
          <a:xfrm rot="0">
            <a:off x="6254559" y="2915340"/>
            <a:ext cx="837002" cy="81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JUNE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505785" y="1854297"/>
            <a:ext cx="14812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9493343" y="4262874"/>
            <a:ext cx="2241859" cy="120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RGB Camera. </a:t>
            </a:r>
          </a:p>
          <a:p>
            <a:pPr algn="l">
              <a:lnSpc>
                <a:spcPts val="1627"/>
              </a:lnSpc>
              <a:spcBef>
                <a:spcPct val="0"/>
              </a:spcBef>
            </a:pPr>
            <a:r>
              <a:rPr lang="en-US" b="true" sz="1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YOLOv5, YOLOv7, YOLOv8, YOLOv10, DETR-ResNet50, Faster R-CNN, Dynamic Weighting, NMS, Ensemble Learning.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9500605" y="5543599"/>
            <a:ext cx="2241859" cy="102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RGB Camera. </a:t>
            </a:r>
          </a:p>
          <a:p>
            <a:pPr algn="l">
              <a:lnSpc>
                <a:spcPts val="1627"/>
              </a:lnSpc>
              <a:spcBef>
                <a:spcPct val="0"/>
              </a:spcBef>
            </a:pPr>
            <a:r>
              <a:rPr lang="en-US" b="true" sz="1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YOLOv12, A2C2f-FSA Module, Bidirectional Feature Fusion Module (BFFM), GSConv, F-WIoU v3 Loss.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523460" y="6915346"/>
            <a:ext cx="2305992" cy="98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1"/>
              </a:lnSpc>
              <a:spcBef>
                <a:spcPct val="0"/>
              </a:spcBef>
            </a:pPr>
            <a:r>
              <a:rPr lang="en-US" b="true" sz="1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1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RGB Camera, LiDAR. </a:t>
            </a:r>
            <a:r>
              <a:rPr lang="en-US" b="true" sz="1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1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Depth Completion Network with Fog Convolution (DCFC), Flexible Cylindrical Voxel (FCV), Cylindrical Fusion Module (CFM).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488775" y="8253742"/>
            <a:ext cx="2305992" cy="97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1"/>
              </a:lnSpc>
              <a:spcBef>
                <a:spcPct val="0"/>
              </a:spcBef>
            </a:pPr>
            <a:r>
              <a:rPr lang="en-US" b="true" sz="1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</a:t>
            </a:r>
            <a:r>
              <a:rPr lang="en-US" sz="11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Monocular CCTV Camera. </a:t>
            </a:r>
            <a:r>
              <a:rPr lang="en-US" b="true" sz="11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1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Koschmieder Scattering Model, Dark Channel Prior, Monte Carlo Simulation, Low Visibility Risk Field Force (LVRFF).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2126173" y="4322269"/>
            <a:ext cx="2157022" cy="95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96.6% mAP, 94.2% Precision, and 94.1% F1-score for multi-class vehicle detection.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2126173" y="5604687"/>
            <a:ext cx="2157022" cy="95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mAP@0.5 by 5.2% (RTTS) and 7.3% (VOC-FOG) while maintaining real-time inference.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2126173" y="6958352"/>
            <a:ext cx="1863890" cy="95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mproved detection performance by ≥3.32% over baseline methods on KITTI-C.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2126173" y="8366982"/>
            <a:ext cx="2157022" cy="95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Achieved &gt;86% visibility estimation accuracy and effectively identified high-risk driving zones.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5678965" y="260993"/>
            <a:ext cx="6503432" cy="114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SURVEY</a:t>
            </a: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3480"/>
              </a:lnSpc>
            </a:pPr>
            <a:r>
              <a:rPr lang="en-US" b="true" sz="2872" spc="45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Study of the research work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000096" y="492874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000096" y="527556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000096" y="5666096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5913996" y="4842723"/>
            <a:ext cx="516120" cy="3435266"/>
            <a:chOff x="0" y="0"/>
            <a:chExt cx="746900" cy="497132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46887" cy="4971288"/>
            </a:xfrm>
            <a:custGeom>
              <a:avLst/>
              <a:gdLst/>
              <a:ahLst/>
              <a:cxnLst/>
              <a:rect r="r" b="b" t="t" l="l"/>
              <a:pathLst>
                <a:path h="4971288" w="746887">
                  <a:moveTo>
                    <a:pt x="0" y="0"/>
                  </a:moveTo>
                  <a:lnTo>
                    <a:pt x="746887" y="0"/>
                  </a:lnTo>
                  <a:lnTo>
                    <a:pt x="746887" y="4971288"/>
                  </a:lnTo>
                  <a:lnTo>
                    <a:pt x="0" y="4971288"/>
                  </a:lnTo>
                  <a:close/>
                </a:path>
              </a:pathLst>
            </a:custGeom>
            <a:blipFill>
              <a:blip r:embed="rId2"/>
              <a:stretch>
                <a:fillRect l="-164" t="0" r="-164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6008872" y="4919969"/>
            <a:ext cx="396671" cy="365078"/>
            <a:chOff x="0" y="0"/>
            <a:chExt cx="574040" cy="5283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6008872" y="4928744"/>
            <a:ext cx="396671" cy="365078"/>
            <a:chOff x="0" y="0"/>
            <a:chExt cx="574040" cy="5283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008872" y="5284344"/>
            <a:ext cx="396671" cy="362445"/>
            <a:chOff x="0" y="0"/>
            <a:chExt cx="574040" cy="52451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16000096" y="5278201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6008872" y="5681015"/>
            <a:ext cx="396671" cy="365078"/>
            <a:chOff x="0" y="0"/>
            <a:chExt cx="574040" cy="5283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70" id="70"/>
          <p:cNvSpPr/>
          <p:nvPr/>
        </p:nvSpPr>
        <p:spPr>
          <a:xfrm flipH="false" flipV="false" rot="0">
            <a:off x="16000096" y="5672239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16008872" y="6058028"/>
            <a:ext cx="396671" cy="362445"/>
            <a:chOff x="0" y="0"/>
            <a:chExt cx="574040" cy="52451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72897" cy="524256"/>
            </a:xfrm>
            <a:custGeom>
              <a:avLst/>
              <a:gdLst/>
              <a:ahLst/>
              <a:cxnLst/>
              <a:rect r="r" b="b" t="t" l="l"/>
              <a:pathLst>
                <a:path h="524256" w="572897">
                  <a:moveTo>
                    <a:pt x="286512" y="0"/>
                  </a:moveTo>
                  <a:lnTo>
                    <a:pt x="195961" y="13335"/>
                  </a:lnTo>
                  <a:lnTo>
                    <a:pt x="117348" y="50546"/>
                  </a:lnTo>
                  <a:lnTo>
                    <a:pt x="55245" y="107315"/>
                  </a:lnTo>
                  <a:lnTo>
                    <a:pt x="14605" y="179324"/>
                  </a:lnTo>
                  <a:lnTo>
                    <a:pt x="0" y="262128"/>
                  </a:lnTo>
                  <a:lnTo>
                    <a:pt x="14605" y="344932"/>
                  </a:lnTo>
                  <a:lnTo>
                    <a:pt x="55245" y="416941"/>
                  </a:lnTo>
                  <a:lnTo>
                    <a:pt x="117348" y="473710"/>
                  </a:lnTo>
                  <a:lnTo>
                    <a:pt x="195961" y="510921"/>
                  </a:lnTo>
                  <a:lnTo>
                    <a:pt x="286512" y="524256"/>
                  </a:lnTo>
                  <a:lnTo>
                    <a:pt x="377063" y="510921"/>
                  </a:lnTo>
                  <a:lnTo>
                    <a:pt x="455676" y="473710"/>
                  </a:lnTo>
                  <a:lnTo>
                    <a:pt x="517652" y="416941"/>
                  </a:lnTo>
                  <a:lnTo>
                    <a:pt x="558292" y="344932"/>
                  </a:lnTo>
                  <a:lnTo>
                    <a:pt x="572897" y="262128"/>
                  </a:lnTo>
                  <a:lnTo>
                    <a:pt x="558292" y="179324"/>
                  </a:lnTo>
                  <a:lnTo>
                    <a:pt x="517652" y="107315"/>
                  </a:lnTo>
                  <a:lnTo>
                    <a:pt x="455676" y="50546"/>
                  </a:lnTo>
                  <a:lnTo>
                    <a:pt x="377063" y="13335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6000096" y="6049252"/>
            <a:ext cx="414223" cy="379997"/>
          </a:xfrm>
          <a:custGeom>
            <a:avLst/>
            <a:gdLst/>
            <a:ahLst/>
            <a:cxnLst/>
            <a:rect r="r" b="b" t="t" l="l"/>
            <a:pathLst>
              <a:path h="379997" w="414223">
                <a:moveTo>
                  <a:pt x="0" y="0"/>
                </a:moveTo>
                <a:lnTo>
                  <a:pt x="414223" y="0"/>
                </a:lnTo>
                <a:lnTo>
                  <a:pt x="414223" y="379997"/>
                </a:lnTo>
                <a:lnTo>
                  <a:pt x="0" y="3799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6008872" y="6420297"/>
            <a:ext cx="396671" cy="365078"/>
            <a:chOff x="0" y="0"/>
            <a:chExt cx="574040" cy="5283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6000096" y="641152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6008872" y="6784673"/>
            <a:ext cx="396671" cy="365078"/>
            <a:chOff x="0" y="0"/>
            <a:chExt cx="574040" cy="5283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9" id="79"/>
          <p:cNvSpPr/>
          <p:nvPr/>
        </p:nvSpPr>
        <p:spPr>
          <a:xfrm flipH="false" flipV="false" rot="0">
            <a:off x="16000096" y="6775897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29"/>
                </a:lnTo>
                <a:lnTo>
                  <a:pt x="0" y="382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16008872" y="7151154"/>
            <a:ext cx="396671" cy="365078"/>
            <a:chOff x="0" y="0"/>
            <a:chExt cx="574040" cy="52832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16000096" y="7142378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16008872" y="7528167"/>
            <a:ext cx="396671" cy="365078"/>
            <a:chOff x="0" y="0"/>
            <a:chExt cx="574040" cy="5283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85" id="85"/>
          <p:cNvSpPr/>
          <p:nvPr/>
        </p:nvSpPr>
        <p:spPr>
          <a:xfrm flipH="false" flipV="false" rot="0">
            <a:off x="16000096" y="7519391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16008872" y="7888330"/>
            <a:ext cx="396671" cy="365078"/>
            <a:chOff x="0" y="0"/>
            <a:chExt cx="574040" cy="5283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2770" cy="527304"/>
            </a:xfrm>
            <a:custGeom>
              <a:avLst/>
              <a:gdLst/>
              <a:ahLst/>
              <a:cxnLst/>
              <a:rect r="r" b="b" t="t" l="l"/>
              <a:pathLst>
                <a:path h="527304" w="572770">
                  <a:moveTo>
                    <a:pt x="286512" y="0"/>
                  </a:moveTo>
                  <a:lnTo>
                    <a:pt x="195961" y="13462"/>
                  </a:lnTo>
                  <a:lnTo>
                    <a:pt x="117348" y="50927"/>
                  </a:lnTo>
                  <a:lnTo>
                    <a:pt x="55245" y="107950"/>
                  </a:lnTo>
                  <a:lnTo>
                    <a:pt x="14605" y="180340"/>
                  </a:lnTo>
                  <a:lnTo>
                    <a:pt x="0" y="263652"/>
                  </a:lnTo>
                  <a:lnTo>
                    <a:pt x="14605" y="346964"/>
                  </a:lnTo>
                  <a:lnTo>
                    <a:pt x="55245" y="419354"/>
                  </a:lnTo>
                  <a:lnTo>
                    <a:pt x="117221" y="476377"/>
                  </a:lnTo>
                  <a:lnTo>
                    <a:pt x="195834" y="513842"/>
                  </a:lnTo>
                  <a:lnTo>
                    <a:pt x="286385" y="527304"/>
                  </a:lnTo>
                  <a:lnTo>
                    <a:pt x="376936" y="513842"/>
                  </a:lnTo>
                  <a:lnTo>
                    <a:pt x="455549" y="476377"/>
                  </a:lnTo>
                  <a:lnTo>
                    <a:pt x="517525" y="419354"/>
                  </a:lnTo>
                  <a:lnTo>
                    <a:pt x="558165" y="346964"/>
                  </a:lnTo>
                  <a:lnTo>
                    <a:pt x="572770" y="263652"/>
                  </a:lnTo>
                  <a:lnTo>
                    <a:pt x="558165" y="180340"/>
                  </a:lnTo>
                  <a:lnTo>
                    <a:pt x="517525" y="107950"/>
                  </a:lnTo>
                  <a:lnTo>
                    <a:pt x="455549" y="50927"/>
                  </a:lnTo>
                  <a:lnTo>
                    <a:pt x="376936" y="13462"/>
                  </a:lnTo>
                  <a:lnTo>
                    <a:pt x="286512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6000096" y="7879554"/>
            <a:ext cx="414223" cy="382629"/>
          </a:xfrm>
          <a:custGeom>
            <a:avLst/>
            <a:gdLst/>
            <a:ahLst/>
            <a:cxnLst/>
            <a:rect r="r" b="b" t="t" l="l"/>
            <a:pathLst>
              <a:path h="382629" w="414223">
                <a:moveTo>
                  <a:pt x="0" y="0"/>
                </a:moveTo>
                <a:lnTo>
                  <a:pt x="414223" y="0"/>
                </a:lnTo>
                <a:lnTo>
                  <a:pt x="414223" y="382630"/>
                </a:lnTo>
                <a:lnTo>
                  <a:pt x="0" y="38263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437993" y="8581179"/>
            <a:ext cx="3755525" cy="516120"/>
            <a:chOff x="0" y="0"/>
            <a:chExt cx="5434787" cy="7469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434838" cy="746887"/>
            </a:xfrm>
            <a:custGeom>
              <a:avLst/>
              <a:gdLst/>
              <a:ahLst/>
              <a:cxnLst/>
              <a:rect r="r" b="b" t="t" l="l"/>
              <a:pathLst>
                <a:path h="746887" w="5434838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close/>
                </a:path>
              </a:pathLst>
            </a:custGeom>
            <a:blipFill>
              <a:blip r:embed="rId21"/>
              <a:stretch>
                <a:fillRect l="0" t="-56" r="0" b="-57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94931" y="8690799"/>
            <a:ext cx="400181" cy="396671"/>
            <a:chOff x="0" y="0"/>
            <a:chExt cx="579120" cy="574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79374" cy="572897"/>
            </a:xfrm>
            <a:custGeom>
              <a:avLst/>
              <a:gdLst/>
              <a:ahLst/>
              <a:cxnLst/>
              <a:rect r="r" b="b" t="t" l="l"/>
              <a:pathLst>
                <a:path h="572897" w="579374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486155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895112" y="8690799"/>
            <a:ext cx="400181" cy="396671"/>
            <a:chOff x="0" y="0"/>
            <a:chExt cx="579120" cy="574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9247" cy="572897"/>
            </a:xfrm>
            <a:custGeom>
              <a:avLst/>
              <a:gdLst/>
              <a:ahLst/>
              <a:cxnLst/>
              <a:rect r="r" b="b" t="t" l="l"/>
              <a:pathLst>
                <a:path h="572897" w="57924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188633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2312143" y="8690799"/>
            <a:ext cx="400181" cy="396671"/>
            <a:chOff x="0" y="0"/>
            <a:chExt cx="579120" cy="574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2303367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2727068" y="8690799"/>
            <a:ext cx="400181" cy="396671"/>
            <a:chOff x="0" y="0"/>
            <a:chExt cx="579120" cy="574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name="Freeform 102" id="102"/>
          <p:cNvSpPr/>
          <p:nvPr/>
        </p:nvSpPr>
        <p:spPr>
          <a:xfrm flipH="false" flipV="false" rot="0">
            <a:off x="2718292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3127249" y="8690799"/>
            <a:ext cx="400181" cy="396671"/>
            <a:chOff x="0" y="0"/>
            <a:chExt cx="579120" cy="574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name="Freeform 105" id="105"/>
          <p:cNvSpPr/>
          <p:nvPr/>
        </p:nvSpPr>
        <p:spPr>
          <a:xfrm flipH="false" flipV="false" rot="0">
            <a:off x="3118473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3527430" y="8690799"/>
            <a:ext cx="400181" cy="396671"/>
            <a:chOff x="0" y="0"/>
            <a:chExt cx="579120" cy="5740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8" id="108"/>
          <p:cNvSpPr/>
          <p:nvPr/>
        </p:nvSpPr>
        <p:spPr>
          <a:xfrm flipH="false" flipV="false" rot="0">
            <a:off x="3518654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3931824" y="8690799"/>
            <a:ext cx="400181" cy="396671"/>
            <a:chOff x="0" y="0"/>
            <a:chExt cx="579120" cy="57404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3923048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4344642" y="8690799"/>
            <a:ext cx="400181" cy="396671"/>
            <a:chOff x="0" y="0"/>
            <a:chExt cx="579120" cy="574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name="Freeform 114" id="114"/>
          <p:cNvSpPr/>
          <p:nvPr/>
        </p:nvSpPr>
        <p:spPr>
          <a:xfrm flipH="false" flipV="false" rot="0">
            <a:off x="4335866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5" id="115"/>
          <p:cNvGrpSpPr/>
          <p:nvPr/>
        </p:nvGrpSpPr>
        <p:grpSpPr>
          <a:xfrm rot="0">
            <a:off x="4742717" y="8690799"/>
            <a:ext cx="400181" cy="396671"/>
            <a:chOff x="0" y="0"/>
            <a:chExt cx="579120" cy="57404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79120" cy="572897"/>
            </a:xfrm>
            <a:custGeom>
              <a:avLst/>
              <a:gdLst/>
              <a:ahLst/>
              <a:cxnLst/>
              <a:rect r="r" b="b" t="t" l="l"/>
              <a:pathLst>
                <a:path h="572897" w="579120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4733941" y="8682023"/>
            <a:ext cx="417733" cy="414223"/>
          </a:xfrm>
          <a:custGeom>
            <a:avLst/>
            <a:gdLst/>
            <a:ahLst/>
            <a:cxnLst/>
            <a:rect r="r" b="b" t="t" l="l"/>
            <a:pathLst>
              <a:path h="414223" w="417733">
                <a:moveTo>
                  <a:pt x="0" y="0"/>
                </a:moveTo>
                <a:lnTo>
                  <a:pt x="417733" y="0"/>
                </a:lnTo>
                <a:lnTo>
                  <a:pt x="417733" y="414223"/>
                </a:lnTo>
                <a:lnTo>
                  <a:pt x="0" y="414223"/>
                </a:lnTo>
                <a:lnTo>
                  <a:pt x="0" y="0"/>
                </a:lnTo>
                <a:close/>
              </a:path>
            </a:pathLst>
          </a:custGeom>
          <a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2630500" y="8513877"/>
            <a:ext cx="2719126" cy="905673"/>
            <a:chOff x="0" y="0"/>
            <a:chExt cx="3934968" cy="131064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3934968" cy="1310640"/>
            </a:xfrm>
            <a:custGeom>
              <a:avLst/>
              <a:gdLst/>
              <a:ahLst/>
              <a:cxnLst/>
              <a:rect r="r" b="b" t="t" l="l"/>
              <a:pathLst>
                <a:path h="1310640" w="3934968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close/>
                </a:path>
              </a:pathLst>
            </a:custGeom>
            <a:blipFill>
              <a:blip r:embed="rId40"/>
              <a:stretch>
                <a:fillRect l="0" t="-38" r="0" b="-38"/>
              </a:stretch>
            </a:blipFill>
          </p:spPr>
        </p:sp>
      </p:grpSp>
      <p:sp>
        <p:nvSpPr>
          <p:cNvPr name="Freeform 120" id="120"/>
          <p:cNvSpPr/>
          <p:nvPr/>
        </p:nvSpPr>
        <p:spPr>
          <a:xfrm flipH="false" flipV="false" rot="0">
            <a:off x="299255" y="343322"/>
            <a:ext cx="16924249" cy="1788742"/>
          </a:xfrm>
          <a:custGeom>
            <a:avLst/>
            <a:gdLst/>
            <a:ahLst/>
            <a:cxnLst/>
            <a:rect r="r" b="b" t="t" l="l"/>
            <a:pathLst>
              <a:path h="1788742" w="16924249">
                <a:moveTo>
                  <a:pt x="0" y="0"/>
                </a:moveTo>
                <a:lnTo>
                  <a:pt x="16924249" y="0"/>
                </a:lnTo>
                <a:lnTo>
                  <a:pt x="16924249" y="1788742"/>
                </a:lnTo>
                <a:lnTo>
                  <a:pt x="0" y="1788742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graphicFrame>
        <p:nvGraphicFramePr>
          <p:cNvPr name="Table 121" id="121"/>
          <p:cNvGraphicFramePr>
            <a:graphicFrameLocks noGrp="true"/>
          </p:cNvGraphicFramePr>
          <p:nvPr/>
        </p:nvGraphicFramePr>
        <p:xfrm>
          <a:off x="591272" y="1579184"/>
          <a:ext cx="16340215" cy="7901308"/>
        </p:xfrm>
        <a:graphic>
          <a:graphicData uri="http://schemas.openxmlformats.org/drawingml/2006/table">
            <a:tbl>
              <a:tblPr/>
              <a:tblGrid>
                <a:gridCol w="1102076"/>
                <a:gridCol w="4316472"/>
                <a:gridCol w="1522616"/>
                <a:gridCol w="1821950"/>
                <a:gridCol w="2595704"/>
                <a:gridCol w="2490698"/>
                <a:gridCol w="2490698"/>
              </a:tblGrid>
              <a:tr h="114807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8776">
                      <a:solidFill>
                        <a:srgbClr val="0218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15D5E"/>
                    </a:solidFill>
                  </a:tcPr>
                </a:tc>
              </a:tr>
              <a:tr h="14631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  <a:tr h="130563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rotWithShape="true">
                      <a:gsLst>
                        <a:gs pos="0">
                          <a:srgbClr val="A6A6A6">
                            <a:alpha val="100000"/>
                          </a:srgbClr>
                        </a:gs>
                        <a:gs pos="100000">
                          <a:srgbClr val="FFFFFF">
                            <a:alpha val="100000"/>
                          </a:srgbClr>
                        </a:gs>
                      </a:gsLst>
                      <a:lin ang="0"/>
                    </a:gradFill>
                  </a:tcPr>
                </a:tc>
              </a:tr>
              <a:tr h="13731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6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34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name="TextBox 122" id="122"/>
          <p:cNvSpPr txBox="true"/>
          <p:nvPr/>
        </p:nvSpPr>
        <p:spPr>
          <a:xfrm rot="0">
            <a:off x="650856" y="1854297"/>
            <a:ext cx="8786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S.NO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2295293" y="1854297"/>
            <a:ext cx="283928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of the Paper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9660304" y="1587597"/>
            <a:ext cx="208216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/Software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418192" y="1808171"/>
            <a:ext cx="761643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Year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4838602" y="1907538"/>
            <a:ext cx="153769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Inference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19990" y="33380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6.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19990" y="4631065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7.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019990" y="614618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8.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019990" y="7471883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9.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019990" y="8767441"/>
            <a:ext cx="693037" cy="3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10.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7622908" y="1854297"/>
            <a:ext cx="15656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1783197" y="4371693"/>
            <a:ext cx="4076364" cy="47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10"/>
              </a:lnSpc>
            </a:pPr>
            <a:r>
              <a:rPr lang="en-US" sz="129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Multi-Target Tracking with Collaborative Roadside Units Under Foggy Conditions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6382029" y="4294824"/>
            <a:ext cx="641957" cy="81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JAN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7648834" y="6783347"/>
            <a:ext cx="1641328" cy="124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foggy 3D object detection using LiDAR-based perception and fog-aware processing.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14483220" y="6926681"/>
            <a:ext cx="2423093" cy="995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4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Fog-aware processing preserves point-cloud features, enabling reliable 3D detection in poor visibility.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1861425" y="6916502"/>
            <a:ext cx="3749793" cy="785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591"/>
              </a:lnSpc>
            </a:pPr>
          </a:p>
          <a:p>
            <a:pPr algn="just">
              <a:lnSpc>
                <a:spcPts val="1591"/>
              </a:lnSpc>
            </a:pPr>
            <a:r>
              <a:rPr lang="en-US" sz="11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3D Vi</a:t>
            </a:r>
            <a:r>
              <a:rPr lang="en-US" sz="1137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sion Object Detection for Autonomous Driving in Fog Using LiDAR</a:t>
            </a:r>
          </a:p>
          <a:p>
            <a:pPr algn="just">
              <a:lnSpc>
                <a:spcPts val="1591"/>
              </a:lnSpc>
              <a:spcBef>
                <a:spcPct val="0"/>
              </a:spcBef>
            </a:pPr>
          </a:p>
        </p:txBody>
      </p:sp>
      <p:sp>
        <p:nvSpPr>
          <p:cNvPr name="TextBox 138" id="138"/>
          <p:cNvSpPr txBox="true"/>
          <p:nvPr/>
        </p:nvSpPr>
        <p:spPr>
          <a:xfrm rot="0">
            <a:off x="6441705" y="7003294"/>
            <a:ext cx="601149" cy="81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APR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2025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7560395" y="8091170"/>
            <a:ext cx="1764307" cy="131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4"/>
              </a:lnSpc>
              <a:spcBef>
                <a:spcPct val="0"/>
              </a:spcBef>
            </a:pPr>
            <a:r>
              <a:rPr lang="en-US" sz="12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realistic foggy LiDAR data using WGAN–LSTM to improve 3D detector robustness without real fog data collection.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4568945" y="8150703"/>
            <a:ext cx="2261094" cy="124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4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GAN-based fog simulation reduces real-world data dependence and improves autonomous vehicle perception robustness.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14511795" y="5571007"/>
            <a:ext cx="2318244" cy="93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9"/>
              </a:lnSpc>
              <a:spcBef>
                <a:spcPct val="0"/>
              </a:spcBef>
            </a:pPr>
            <a:r>
              <a:rPr lang="en-US" sz="13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Fog-aware features and improved detection heads enhance bounding boxes and reliability for foggy perception.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1909941" y="8218295"/>
            <a:ext cx="3701278" cy="666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06"/>
              </a:lnSpc>
            </a:pPr>
            <a:r>
              <a:rPr lang="en-US" sz="121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Simulation of LiDAR Under Fog with Generative Adversarial Networks for Robust 3D Object Detection</a:t>
            </a:r>
          </a:p>
          <a:p>
            <a:pPr algn="just">
              <a:lnSpc>
                <a:spcPts val="1706"/>
              </a:lnSpc>
              <a:spcBef>
                <a:spcPct val="0"/>
              </a:spcBef>
            </a:pPr>
          </a:p>
        </p:txBody>
      </p:sp>
      <p:sp>
        <p:nvSpPr>
          <p:cNvPr name="TextBox 143" id="143"/>
          <p:cNvSpPr txBox="true"/>
          <p:nvPr/>
        </p:nvSpPr>
        <p:spPr>
          <a:xfrm rot="0">
            <a:off x="6452264" y="8248865"/>
            <a:ext cx="635229" cy="8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OCT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b="true" sz="23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2025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7560395" y="2744304"/>
            <a:ext cx="1751973" cy="131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  <a:spcBef>
                <a:spcPct val="0"/>
              </a:spcBef>
            </a:pPr>
            <a:r>
              <a:rPr lang="en-US" sz="12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 performance in foggy-weather using a cost-effective vehicle detection system for distance, speed, and TTC-based collision warnings.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9493343" y="2807967"/>
            <a:ext cx="2336109" cy="1064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5"/>
              </a:lnSpc>
            </a:pPr>
            <a:r>
              <a:rPr lang="en-US" sz="121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</a:t>
            </a:r>
            <a:r>
              <a:rPr lang="en-US" sz="1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SimYOLO-V5s_WIOU detector, Deep-SORT-based tracking</a:t>
            </a:r>
          </a:p>
          <a:p>
            <a:pPr algn="l">
              <a:lnSpc>
                <a:spcPts val="1705"/>
              </a:lnSpc>
              <a:spcBef>
                <a:spcPct val="0"/>
              </a:spcBef>
            </a:pPr>
            <a:r>
              <a:rPr lang="en-US" b="true" sz="121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 </a:t>
            </a:r>
            <a:r>
              <a:rPr lang="en-US" sz="1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RGB cameras with edge-capable platforms for real-time inference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4483220" y="2812824"/>
            <a:ext cx="2395016" cy="12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9"/>
              </a:lnSpc>
              <a:spcBef>
                <a:spcPct val="0"/>
              </a:spcBef>
            </a:pP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SimSPPF </a:t>
            </a: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Wise-IoU improve fog detection reliability, while robust tracking and TTC-based warnings support safer collision avoidance.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886336" y="5690787"/>
            <a:ext cx="3724883" cy="75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9"/>
              </a:lnSpc>
            </a:pPr>
            <a:r>
              <a:rPr lang="en-US" sz="138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Fog-YOLO: A Real-Time Object Detector for Foggy Autonomous Driving Scenarios</a:t>
            </a:r>
          </a:p>
          <a:p>
            <a:pPr algn="just">
              <a:lnSpc>
                <a:spcPts val="1939"/>
              </a:lnSpc>
              <a:spcBef>
                <a:spcPct val="0"/>
              </a:spcBef>
            </a:pPr>
          </a:p>
        </p:txBody>
      </p:sp>
      <p:sp>
        <p:nvSpPr>
          <p:cNvPr name="TextBox 148" id="148"/>
          <p:cNvSpPr txBox="true"/>
          <p:nvPr/>
        </p:nvSpPr>
        <p:spPr>
          <a:xfrm rot="0">
            <a:off x="6314108" y="5658452"/>
            <a:ext cx="659635" cy="817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1"/>
              </a:lnSpc>
            </a:pPr>
            <a:r>
              <a:rPr lang="en-US" sz="230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FEB </a:t>
            </a:r>
          </a:p>
          <a:p>
            <a:pPr algn="ctr">
              <a:lnSpc>
                <a:spcPts val="3231"/>
              </a:lnSpc>
              <a:spcBef>
                <a:spcPct val="0"/>
              </a:spcBef>
            </a:pPr>
            <a:r>
              <a:rPr lang="en-US" b="true" sz="230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 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7593063" y="4149901"/>
            <a:ext cx="1719305" cy="132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2"/>
              </a:lnSpc>
              <a:spcBef>
                <a:spcPct val="0"/>
              </a:spcBef>
            </a:pPr>
            <a:r>
              <a:rPr lang="en-US" sz="12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foggy roadside LiDAR tracking by reducing point-cloud noise and enabling collaborative multi-RSU perception.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7658359" y="5534074"/>
            <a:ext cx="1666343" cy="1241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5"/>
              </a:lnSpc>
              <a:spcBef>
                <a:spcPct val="0"/>
              </a:spcBef>
            </a:pPr>
            <a:r>
              <a:rPr lang="en-US" sz="138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low-latency, fog-robust detector for autonomous driving with improved accuracy.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1979607" y="2699753"/>
            <a:ext cx="2303589" cy="1428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SimYOLO-V5s_WIOU improved fog detection accuracy (up to +17.45% mAP50) on foggy driving, enhanced tracking reliability, and enabled TTC-based graded collision warnings.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4568945" y="4168170"/>
            <a:ext cx="2119608" cy="124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939"/>
              </a:lnSpc>
              <a:spcBef>
                <a:spcPct val="0"/>
              </a:spcBef>
            </a:pP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Noi</a:t>
            </a:r>
            <a:r>
              <a:rPr lang="en-US" sz="138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se-aware denoising and multi-RSU PHD fusion improve foggy LiDAR detection, range, and tracking stability.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909941" y="2949072"/>
            <a:ext cx="3701278" cy="70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20"/>
              </a:lnSpc>
              <a:spcBef>
                <a:spcPct val="0"/>
              </a:spcBef>
            </a:pPr>
            <a:r>
              <a:rPr lang="en-US" b="true" sz="13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ECE-VDTDA: A Robust and Computationally Efficient Collision Avoidance System for Driver Assistance in Foggy Weather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6352026" y="2915340"/>
            <a:ext cx="642067" cy="815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4"/>
              </a:lnSpc>
            </a:pPr>
            <a:r>
              <a:rPr lang="en-US" sz="2303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FEB </a:t>
            </a:r>
          </a:p>
          <a:p>
            <a:pPr algn="ctr">
              <a:lnSpc>
                <a:spcPts val="3224"/>
              </a:lnSpc>
              <a:spcBef>
                <a:spcPct val="0"/>
              </a:spcBef>
            </a:pPr>
            <a:r>
              <a:rPr lang="en-US" b="true" sz="230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2026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505785" y="1854297"/>
            <a:ext cx="148125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9493343" y="4187016"/>
            <a:ext cx="2351737" cy="1208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 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Roadside LiDAR-equipped RSUs for fog-affected traffic data collection.</a:t>
            </a:r>
          </a:p>
          <a:p>
            <a:pPr algn="l">
              <a:lnSpc>
                <a:spcPts val="1627"/>
              </a:lnSpc>
              <a:spcBef>
                <a:spcPct val="0"/>
              </a:spcBef>
            </a:pPr>
            <a:r>
              <a:rPr lang="en-US" b="true" sz="1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Fog-noise removal using adaptive filtering and multi-RSU cooperative tracking with PHD filtering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9500605" y="5543599"/>
            <a:ext cx="2396968" cy="1008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sz="116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 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RGB cameras with GPU-enabled platforms for real-time inference.</a:t>
            </a:r>
          </a:p>
          <a:p>
            <a:pPr algn="l">
              <a:lnSpc>
                <a:spcPts val="1627"/>
              </a:lnSpc>
              <a:spcBef>
                <a:spcPct val="0"/>
              </a:spcBef>
            </a:pPr>
            <a:r>
              <a:rPr lang="en-US" b="true" sz="116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</a:t>
            </a:r>
            <a:r>
              <a:rPr lang="en-US" sz="116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Fog-YOLO with fog-aware modules and improved detection head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9523460" y="6830070"/>
            <a:ext cx="2305992" cy="1273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22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 </a:t>
            </a: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Automotive LiDAR sensors evaluated under foggy conditions.</a:t>
            </a:r>
          </a:p>
          <a:p>
            <a:pPr algn="l">
              <a:lnSpc>
                <a:spcPts val="1711"/>
              </a:lnSpc>
              <a:spcBef>
                <a:spcPct val="0"/>
              </a:spcBef>
            </a:pPr>
            <a:r>
              <a:rPr lang="en-US" b="true" sz="12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</a:t>
            </a:r>
            <a:r>
              <a:rPr lang="en-US" sz="12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LiDAR-based 3D detection with fog-mitigation techniques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9493343" y="8106641"/>
            <a:ext cx="2404230" cy="1385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1"/>
              </a:lnSpc>
            </a:pPr>
            <a:r>
              <a:rPr lang="en-US" sz="1322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Hardware: </a:t>
            </a:r>
            <a:r>
              <a:rPr lang="en-US" sz="1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Velodyne VLP-32C LiDAR with fog-chamber and onboard ROS</a:t>
            </a:r>
          </a:p>
          <a:p>
            <a:pPr algn="l">
              <a:lnSpc>
                <a:spcPts val="1851"/>
              </a:lnSpc>
              <a:spcBef>
                <a:spcPct val="0"/>
              </a:spcBef>
            </a:pPr>
            <a:r>
              <a:rPr lang="en-US" b="true" sz="13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Software: </a:t>
            </a:r>
            <a:r>
              <a:rPr lang="en-US" sz="1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ROS-based LiDAR processing with WGAN-GP + LSTM fog simulation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2126173" y="4228333"/>
            <a:ext cx="2157022" cy="1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detection accuracy by +8% (thin fog) and +29% (thick fog), with enhanced multi-class tracking performance.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2126173" y="5604687"/>
            <a:ext cx="2157022" cy="110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52"/>
              </a:lnSpc>
              <a:spcBef>
                <a:spcPct val="0"/>
              </a:spcBef>
            </a:pPr>
            <a:r>
              <a:rPr lang="en-US" sz="12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mAP over YOLO baseline with better small/occluded object detection in varying fog while maintaining real-time performance.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2126173" y="6833814"/>
            <a:ext cx="1863890" cy="1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3D detection accuracy and recall under fog compared to uncompensated LiDAR baselines.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2069023" y="8138795"/>
            <a:ext cx="2235164" cy="1190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892"/>
              </a:lnSpc>
              <a:spcBef>
                <a:spcPct val="0"/>
              </a:spcBef>
            </a:pP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135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enerated 80,000 foggy LiDAR frames using WGAN–LSTM, improving 3D detector robustness and reducing the need for real fog data collection.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5678965" y="260993"/>
            <a:ext cx="6503432" cy="1146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LITERATURE SURVEY</a:t>
            </a:r>
            <a:r>
              <a:rPr lang="en-US" b="true" sz="4640" spc="25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  <a:p>
            <a:pPr algn="l">
              <a:lnSpc>
                <a:spcPts val="3480"/>
              </a:lnSpc>
            </a:pPr>
            <a:r>
              <a:rPr lang="en-US" b="true" sz="2872" spc="45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Study of the research work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442" y="2623128"/>
            <a:ext cx="16245739" cy="5723624"/>
          </a:xfrm>
          <a:custGeom>
            <a:avLst/>
            <a:gdLst/>
            <a:ahLst/>
            <a:cxnLst/>
            <a:rect r="r" b="b" t="t" l="l"/>
            <a:pathLst>
              <a:path h="5723624" w="16245739">
                <a:moveTo>
                  <a:pt x="0" y="0"/>
                </a:moveTo>
                <a:lnTo>
                  <a:pt x="16245739" y="0"/>
                </a:lnTo>
                <a:lnTo>
                  <a:pt x="16245739" y="5723624"/>
                </a:lnTo>
                <a:lnTo>
                  <a:pt x="0" y="5723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559" r="0" b="-1635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67485" y="844068"/>
            <a:ext cx="13021509" cy="78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b="true" sz="5040" spc="277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INFERENCE FROM LITERATURE SURVEY</a:t>
            </a:r>
            <a:r>
              <a:rPr lang="en-US" b="true" sz="5040" spc="277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53" y="81035"/>
            <a:ext cx="17475203" cy="9367000"/>
            <a:chOff x="0" y="0"/>
            <a:chExt cx="23300271" cy="1248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2489333"/>
            </a:xfrm>
            <a:custGeom>
              <a:avLst/>
              <a:gdLst/>
              <a:ahLst/>
              <a:cxnLst/>
              <a:rect r="r" b="b" t="t" l="l"/>
              <a:pathLst>
                <a:path h="12489333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2489333"/>
                  </a:lnTo>
                  <a:lnTo>
                    <a:pt x="0" y="12489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063" r="0" b="-2063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74175" y="511403"/>
            <a:ext cx="12926140" cy="1196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72"/>
              </a:lnSpc>
            </a:pPr>
            <a:r>
              <a:rPr lang="en-US" b="true" sz="4868" spc="150">
                <a:solidFill>
                  <a:srgbClr val="E2E3E3"/>
                </a:solidFill>
                <a:latin typeface="Roboto Bold"/>
                <a:ea typeface="Roboto Bold"/>
                <a:cs typeface="Roboto Bold"/>
                <a:sym typeface="Roboto Bold"/>
              </a:rPr>
              <a:t>12-Week Development Sprint</a:t>
            </a:r>
          </a:p>
          <a:p>
            <a:pPr algn="l">
              <a:lnSpc>
                <a:spcPts val="3239"/>
              </a:lnSpc>
            </a:pPr>
            <a:r>
              <a:rPr lang="en-US" b="true" sz="2554" spc="181">
                <a:solidFill>
                  <a:srgbClr val="8D9092"/>
                </a:solidFill>
                <a:latin typeface="Roboto Bold"/>
                <a:ea typeface="Roboto Bold"/>
                <a:cs typeface="Roboto Bold"/>
                <a:sym typeface="Roboto Bold"/>
              </a:rPr>
              <a:t>A structured roadmap from literature survey to functional Edge-Al prototype.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7175" y="2380021"/>
            <a:ext cx="2000250" cy="424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</a:pPr>
            <a:r>
              <a:rPr lang="en-US" sz="2423" spc="-31">
                <a:solidFill>
                  <a:srgbClr val="FFBD59"/>
                </a:solidFill>
                <a:latin typeface="Roboto"/>
                <a:ea typeface="Roboto"/>
                <a:cs typeface="Roboto"/>
                <a:sym typeface="Roboto"/>
              </a:rPr>
              <a:t>Phase &amp; Focus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85426" y="2389057"/>
            <a:ext cx="771525" cy="415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6"/>
              </a:lnSpc>
            </a:pPr>
            <a:r>
              <a:rPr lang="en-US" sz="2404">
                <a:solidFill>
                  <a:srgbClr val="FFBD59"/>
                </a:solidFill>
                <a:latin typeface="Roboto"/>
                <a:ea typeface="Roboto"/>
                <a:cs typeface="Roboto"/>
                <a:sym typeface="Roboto"/>
              </a:rPr>
              <a:t>Week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86" y="3464665"/>
            <a:ext cx="2533650" cy="349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sz="1988" spc="89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Phase 1: Foundation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18590" y="3452676"/>
            <a:ext cx="1079540" cy="356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2077" spc="-2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1-2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9988" y="3843890"/>
            <a:ext cx="2752725" cy="36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2"/>
              </a:lnSpc>
            </a:pPr>
            <a:r>
              <a:rPr lang="en-US" sz="2116" spc="-10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(Research &amp; Hardware)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23093" y="3794277"/>
            <a:ext cx="883325" cy="383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6"/>
              </a:lnSpc>
            </a:pPr>
            <a:r>
              <a:rPr lang="en-US" sz="2147" spc="-8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51103" y="4716910"/>
            <a:ext cx="838795" cy="373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5"/>
              </a:lnSpc>
            </a:pPr>
            <a:r>
              <a:rPr lang="en-US" sz="2167" spc="-78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3680" y="4911862"/>
            <a:ext cx="2505075" cy="36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097" spc="44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Phase 2: 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826239" y="5076898"/>
            <a:ext cx="875824" cy="38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8" spc="-46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3188" y="5304246"/>
            <a:ext cx="2333625" cy="34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5"/>
              </a:lnSpc>
            </a:pPr>
            <a:r>
              <a:rPr lang="en-US" sz="2068" spc="14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(Interfacing &amp; Data)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47445" y="5437526"/>
            <a:ext cx="847487" cy="36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67"/>
              </a:lnSpc>
            </a:pPr>
            <a:r>
              <a:rPr lang="en-US" sz="2119" spc="-40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26239" y="6169098"/>
            <a:ext cx="875824" cy="382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8"/>
              </a:lnSpc>
            </a:pPr>
            <a:r>
              <a:rPr lang="en-US" sz="2198" spc="-46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4865" y="6342554"/>
            <a:ext cx="2143125" cy="39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4"/>
              </a:lnSpc>
            </a:pPr>
            <a:r>
              <a:rPr lang="en-US" sz="2267" spc="-13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Phase 3: Edge-Al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838264" y="6526312"/>
            <a:ext cx="813673" cy="35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2"/>
              </a:lnSpc>
            </a:pPr>
            <a:r>
              <a:rPr lang="en-US" sz="2023" spc="-32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8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4025" y="6734180"/>
            <a:ext cx="2219325" cy="365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 spc="-2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(Algorithm &amp; Alert)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55390" y="6868607"/>
            <a:ext cx="792123" cy="407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2" spc="-76">
                <a:solidFill>
                  <a:srgbClr val="E2E3E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Week 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33132" y="7627212"/>
            <a:ext cx="106203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spc="102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10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7138" y="7809072"/>
            <a:ext cx="2600325" cy="35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1"/>
              </a:lnSpc>
            </a:pPr>
            <a:r>
              <a:rPr lang="en-US" sz="2022" spc="78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Phase 4: Finalisation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57383" y="7952259"/>
            <a:ext cx="119062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02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 Week 11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44600" y="8208553"/>
            <a:ext cx="2590800" cy="34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sz="1981" spc="51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(Prototype &amp; Delivery)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42240" y="8365117"/>
            <a:ext cx="1043821" cy="347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065" spc="45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Week 12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629827" y="2406784"/>
            <a:ext cx="1752600" cy="42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2463" spc="-17">
                <a:solidFill>
                  <a:srgbClr val="FFBD59"/>
                </a:solidFill>
                <a:latin typeface="Roboto"/>
                <a:ea typeface="Roboto"/>
                <a:cs typeface="Roboto"/>
                <a:sym typeface="Roboto"/>
              </a:rPr>
              <a:t>Core Activity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81952" y="3287191"/>
            <a:ext cx="5848350" cy="100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2"/>
              </a:lnSpc>
            </a:pPr>
            <a:r>
              <a:rPr lang="en-US" sz="1982" spc="49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Literature Survey, Problem Analysis &amp; Component</a:t>
            </a:r>
          </a:p>
          <a:p>
            <a:pPr algn="ctr">
              <a:lnSpc>
                <a:spcPts val="2642"/>
              </a:lnSpc>
            </a:pPr>
            <a:r>
              <a:rPr lang="en-US" sz="1982" spc="49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Procurement.</a:t>
            </a:r>
          </a:p>
          <a:p>
            <a:pPr algn="ctr">
              <a:lnSpc>
                <a:spcPts val="2642"/>
              </a:lnSpc>
            </a:pPr>
            <a:r>
              <a:rPr lang="en-US" sz="1982" spc="49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STM32/Cortex-M setup and architecture learning.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84926" y="4751701"/>
            <a:ext cx="4953000" cy="97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6"/>
              </a:lnSpc>
            </a:pPr>
            <a:r>
              <a:rPr lang="en-US" sz="1970" spc="53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Sensor Interfacing &amp; ADC Testing.</a:t>
            </a:r>
          </a:p>
          <a:p>
            <a:pPr algn="ctr">
              <a:lnSpc>
                <a:spcPts val="2606"/>
              </a:lnSpc>
            </a:pPr>
            <a:r>
              <a:rPr lang="en-US" sz="1970" spc="53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Data Collection from live moving vehicles.</a:t>
            </a:r>
          </a:p>
          <a:p>
            <a:pPr algn="ctr">
              <a:lnSpc>
                <a:spcPts val="2606"/>
              </a:lnSpc>
            </a:pPr>
            <a:r>
              <a:rPr lang="en-US" sz="1970" spc="53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Initial Signal Processing Implementation.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07078" y="6188555"/>
            <a:ext cx="6096000" cy="998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5"/>
              </a:lnSpc>
            </a:pPr>
            <a:r>
              <a:rPr lang="en-US" sz="1942" spc="66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Vehicle Detection Algorithm (TinyML) Development.</a:t>
            </a:r>
          </a:p>
          <a:p>
            <a:pPr algn="ctr">
              <a:lnSpc>
                <a:spcPts val="2645"/>
              </a:lnSpc>
            </a:pPr>
            <a:r>
              <a:rPr lang="en-US" sz="1942" spc="66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LED, Buzzer, and Display Integration.</a:t>
            </a:r>
          </a:p>
          <a:p>
            <a:pPr algn="ctr">
              <a:lnSpc>
                <a:spcPts val="2645"/>
              </a:lnSpc>
            </a:pPr>
            <a:r>
              <a:rPr lang="en-US" sz="1942" spc="66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System Testing, Calibration, and Optimisation.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838952" y="7679502"/>
            <a:ext cx="5257800" cy="980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2012" spc="30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Complete Prototype Assembly.</a:t>
            </a:r>
          </a:p>
          <a:p>
            <a:pPr algn="ctr">
              <a:lnSpc>
                <a:spcPts val="2570"/>
              </a:lnSpc>
            </a:pPr>
            <a:r>
              <a:rPr lang="en-US" sz="2012" spc="30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Result Analysis and Performance Evaluation.</a:t>
            </a:r>
          </a:p>
          <a:p>
            <a:pPr algn="ctr">
              <a:lnSpc>
                <a:spcPts val="2570"/>
              </a:lnSpc>
            </a:pPr>
            <a:r>
              <a:rPr lang="en-US" sz="2012" spc="30">
                <a:solidFill>
                  <a:srgbClr val="E2E3E3"/>
                </a:solidFill>
                <a:latin typeface="Roboto"/>
                <a:ea typeface="Roboto"/>
                <a:cs typeface="Roboto"/>
                <a:sym typeface="Roboto"/>
              </a:rPr>
              <a:t>Report Writing and PPT Preparation.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870043" y="2422426"/>
            <a:ext cx="1876425" cy="40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0"/>
              </a:lnSpc>
            </a:pPr>
            <a:r>
              <a:rPr lang="en-US" sz="2329">
                <a:solidFill>
                  <a:srgbClr val="FFBD59"/>
                </a:solidFill>
                <a:latin typeface="Roboto"/>
                <a:ea typeface="Roboto"/>
                <a:cs typeface="Roboto"/>
                <a:sym typeface="Roboto"/>
              </a:rPr>
              <a:t>Key Milestone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552575" y="3458808"/>
            <a:ext cx="2524125" cy="641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3"/>
              </a:lnSpc>
            </a:pPr>
            <a:r>
              <a:rPr lang="en-US" sz="1930" spc="71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Hardware Procured &amp;</a:t>
            </a:r>
          </a:p>
          <a:p>
            <a:pPr algn="ctr">
              <a:lnSpc>
                <a:spcPts val="2513"/>
              </a:lnSpc>
            </a:pPr>
            <a:r>
              <a:rPr lang="en-US" sz="1930" spc="71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Environment Setup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404837" y="4936910"/>
            <a:ext cx="2819400" cy="61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1953" spc="64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Successful Sensor Data</a:t>
            </a:r>
          </a:p>
          <a:p>
            <a:pPr algn="ctr">
              <a:lnSpc>
                <a:spcPts val="2474"/>
              </a:lnSpc>
            </a:pPr>
            <a:r>
              <a:rPr lang="en-US" sz="1953" spc="64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Acquisition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593818" y="6381210"/>
            <a:ext cx="2428875" cy="634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8"/>
              </a:lnSpc>
            </a:pPr>
            <a:r>
              <a:rPr lang="en-US" sz="1958" spc="50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Functional Detection</a:t>
            </a:r>
          </a:p>
          <a:p>
            <a:pPr algn="ctr">
              <a:lnSpc>
                <a:spcPts val="2528"/>
              </a:lnSpc>
            </a:pPr>
            <a:r>
              <a:rPr lang="en-US" sz="1958" spc="50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Algorithm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191250" y="7986349"/>
            <a:ext cx="3246358" cy="35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3"/>
              </a:lnSpc>
            </a:pPr>
            <a:r>
              <a:rPr lang="en-US" sz="2030" spc="24">
                <a:solidFill>
                  <a:srgbClr val="D1B993"/>
                </a:solidFill>
                <a:latin typeface="Roboto"/>
                <a:ea typeface="Roboto"/>
                <a:cs typeface="Roboto"/>
                <a:sym typeface="Roboto"/>
              </a:rPr>
              <a:t>Final Demonstration (Oct 6)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048950" y="1602473"/>
            <a:ext cx="11370949" cy="7580633"/>
          </a:xfrm>
          <a:custGeom>
            <a:avLst/>
            <a:gdLst/>
            <a:ahLst/>
            <a:cxnLst/>
            <a:rect r="r" b="b" t="t" l="l"/>
            <a:pathLst>
              <a:path h="7580633" w="11370949">
                <a:moveTo>
                  <a:pt x="0" y="0"/>
                </a:moveTo>
                <a:lnTo>
                  <a:pt x="11370950" y="0"/>
                </a:lnTo>
                <a:lnTo>
                  <a:pt x="11370950" y="7580633"/>
                </a:lnTo>
                <a:lnTo>
                  <a:pt x="0" y="75806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889990" y="405696"/>
            <a:ext cx="5751672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442" y="3152405"/>
            <a:ext cx="12520703" cy="6193306"/>
          </a:xfrm>
          <a:custGeom>
            <a:avLst/>
            <a:gdLst/>
            <a:ahLst/>
            <a:cxnLst/>
            <a:rect r="r" b="b" t="t" l="l"/>
            <a:pathLst>
              <a:path h="6193306" w="12520703">
                <a:moveTo>
                  <a:pt x="0" y="0"/>
                </a:moveTo>
                <a:lnTo>
                  <a:pt x="12520703" y="0"/>
                </a:lnTo>
                <a:lnTo>
                  <a:pt x="12520703" y="6193306"/>
                </a:lnTo>
                <a:lnTo>
                  <a:pt x="0" y="6193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0416" y="550926"/>
            <a:ext cx="9410819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HARDWARE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54309" y="5692417"/>
            <a:ext cx="4136087" cy="55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1"/>
              </a:lnSpc>
              <a:spcBef>
                <a:spcPct val="0"/>
              </a:spcBef>
            </a:pPr>
            <a:r>
              <a:rPr lang="en-US" b="true" sz="3499" spc="192">
                <a:solidFill>
                  <a:srgbClr val="E1E3E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TM4C123GH6PM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81041" y="1579941"/>
            <a:ext cx="16706768" cy="135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01"/>
              </a:lnSpc>
              <a:spcBef>
                <a:spcPct val="0"/>
              </a:spcBef>
            </a:pPr>
            <a:r>
              <a:rPr lang="en-US" b="true" sz="2888" spc="158">
                <a:solidFill>
                  <a:srgbClr val="E1E3E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TM4C123GH6PM is the central microcontroller of our project that acquires microphone signals, processes vehicle detection logic, and controls the OLED display, buzzer, and LEDs to provide real-time collision warnings in foggy conditions.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149" y="1797250"/>
            <a:ext cx="14445482" cy="6774034"/>
          </a:xfrm>
          <a:custGeom>
            <a:avLst/>
            <a:gdLst/>
            <a:ahLst/>
            <a:cxnLst/>
            <a:rect r="r" b="b" t="t" l="l"/>
            <a:pathLst>
              <a:path h="6774034" w="14445482">
                <a:moveTo>
                  <a:pt x="0" y="0"/>
                </a:moveTo>
                <a:lnTo>
                  <a:pt x="14445482" y="0"/>
                </a:lnTo>
                <a:lnTo>
                  <a:pt x="14445482" y="6774034"/>
                </a:lnTo>
                <a:lnTo>
                  <a:pt x="0" y="67740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60416" y="550926"/>
            <a:ext cx="9410819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HARDWARE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97783" y="8889952"/>
            <a:ext cx="4136087" cy="58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1"/>
              </a:lnSpc>
              <a:spcBef>
                <a:spcPct val="0"/>
              </a:spcBef>
            </a:pPr>
            <a:r>
              <a:rPr lang="en-US" b="true" sz="3640" spc="200">
                <a:solidFill>
                  <a:srgbClr val="E1E3E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TM4C123GH6PM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8319" y="1661025"/>
            <a:ext cx="5411186" cy="2748883"/>
          </a:xfrm>
          <a:custGeom>
            <a:avLst/>
            <a:gdLst/>
            <a:ahLst/>
            <a:cxnLst/>
            <a:rect r="r" b="b" t="t" l="l"/>
            <a:pathLst>
              <a:path h="2748883" w="5411186">
                <a:moveTo>
                  <a:pt x="0" y="0"/>
                </a:moveTo>
                <a:lnTo>
                  <a:pt x="5411186" y="0"/>
                </a:lnTo>
                <a:lnTo>
                  <a:pt x="5411186" y="2748882"/>
                </a:lnTo>
                <a:lnTo>
                  <a:pt x="0" y="2748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94886" y="354789"/>
            <a:ext cx="9410799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HARDWARE COMPONENTS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10359" y="4329509"/>
            <a:ext cx="4574321" cy="860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3"/>
              </a:lnSpc>
            </a:pPr>
          </a:p>
          <a:p>
            <a:pPr algn="ctr">
              <a:lnSpc>
                <a:spcPts val="3030"/>
              </a:lnSpc>
              <a:spcBef>
                <a:spcPct val="0"/>
              </a:spcBef>
            </a:pPr>
            <a:r>
              <a:rPr lang="en-US" b="true" sz="2500" spc="137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MAX4466 Analog Microphone Module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31763" y="4814136"/>
            <a:ext cx="3387447" cy="26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00" spc="93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SSD1306 OLED Display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89505" y="4867275"/>
            <a:ext cx="4367357" cy="264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b="true" sz="1700" spc="93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 ST Link V2 Programmer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65269" y="4867275"/>
            <a:ext cx="4403518" cy="323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6"/>
              </a:lnSpc>
              <a:spcBef>
                <a:spcPct val="0"/>
              </a:spcBef>
            </a:pPr>
            <a:r>
              <a:rPr lang="en-US" b="true" sz="2117" spc="11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B</a:t>
            </a:r>
            <a:r>
              <a:rPr lang="en-US" b="true" sz="2117" spc="11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UZZER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4356" y="8759190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LEDS AND RESISTORS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796042" y="8828318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BREADBOARD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50900" y="8851713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JUMPER WIRES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67028" y="8828318"/>
            <a:ext cx="4367357" cy="31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9"/>
              </a:lnSpc>
              <a:spcBef>
                <a:spcPct val="0"/>
              </a:spcBef>
            </a:pPr>
            <a:r>
              <a:rPr lang="en-US" b="true" sz="1930" spc="106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USB CABLE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311674" y="5588283"/>
            <a:ext cx="3068584" cy="306858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0344" t="0" r="-10344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800286" y="5588283"/>
            <a:ext cx="3068584" cy="3068584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5445428" y="5508579"/>
            <a:ext cx="3068584" cy="3068584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31763" y="1515935"/>
            <a:ext cx="3068584" cy="306858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24074" t="0" r="-24074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649619" y="5588283"/>
            <a:ext cx="3068584" cy="3068584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-30636" t="-9198" r="-29528" b="-156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160516" y="1596586"/>
            <a:ext cx="3068584" cy="306858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589269" y="1515935"/>
            <a:ext cx="3068584" cy="3068584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1833" y="1880848"/>
            <a:ext cx="16467986" cy="5991903"/>
          </a:xfrm>
          <a:custGeom>
            <a:avLst/>
            <a:gdLst/>
            <a:ahLst/>
            <a:cxnLst/>
            <a:rect r="r" b="b" t="t" l="l"/>
            <a:pathLst>
              <a:path h="5991903" w="16467986">
                <a:moveTo>
                  <a:pt x="0" y="0"/>
                </a:moveTo>
                <a:lnTo>
                  <a:pt x="16467986" y="0"/>
                </a:lnTo>
                <a:lnTo>
                  <a:pt x="16467986" y="5991904"/>
                </a:lnTo>
                <a:lnTo>
                  <a:pt x="0" y="59919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66418" y="405696"/>
            <a:ext cx="10760035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DEVELOP SIMULATION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2442" y="8360898"/>
            <a:ext cx="16467986" cy="806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1"/>
              </a:lnSpc>
              <a:spcBef>
                <a:spcPct val="0"/>
              </a:spcBef>
            </a:pPr>
            <a:r>
              <a:rPr lang="en-US" b="true" sz="1783" spc="98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The Simulink m</a:t>
            </a:r>
            <a:r>
              <a:rPr lang="en-US" b="true" sz="1783" spc="98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odel represents the proposed ghost vehicle detection system, where vehicle-generated pressure waves are simulated and processed through the MAX4466 sensor model. The STM32 Cortex-M4 processing unit performs signal analysis and generates real-time alerts through LED, buzzer, and OLED display when a vehicle is detected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3471" y="2026035"/>
            <a:ext cx="12980041" cy="7224366"/>
          </a:xfrm>
          <a:custGeom>
            <a:avLst/>
            <a:gdLst/>
            <a:ahLst/>
            <a:cxnLst/>
            <a:rect r="r" b="b" t="t" l="l"/>
            <a:pathLst>
              <a:path h="7224366" w="12980041">
                <a:moveTo>
                  <a:pt x="0" y="0"/>
                </a:moveTo>
                <a:lnTo>
                  <a:pt x="12980041" y="0"/>
                </a:lnTo>
                <a:lnTo>
                  <a:pt x="12980041" y="7224365"/>
                </a:lnTo>
                <a:lnTo>
                  <a:pt x="0" y="72243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60510" y="699688"/>
            <a:ext cx="6010633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BLOCK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254688" y="-1192192"/>
            <a:ext cx="7948110" cy="11992755"/>
          </a:xfrm>
          <a:custGeom>
            <a:avLst/>
            <a:gdLst/>
            <a:ahLst/>
            <a:cxnLst/>
            <a:rect r="r" b="b" t="t" l="l"/>
            <a:pathLst>
              <a:path h="11992755" w="7948110">
                <a:moveTo>
                  <a:pt x="0" y="0"/>
                </a:moveTo>
                <a:lnTo>
                  <a:pt x="7948109" y="0"/>
                </a:lnTo>
                <a:lnTo>
                  <a:pt x="7948109" y="11992754"/>
                </a:lnTo>
                <a:lnTo>
                  <a:pt x="0" y="11992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316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683266" y="3552499"/>
            <a:ext cx="4176290" cy="1722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6"/>
              </a:lnSpc>
            </a:pPr>
            <a:r>
              <a:rPr lang="en-US" b="true" sz="5616" spc="308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HARDWARE</a:t>
            </a:r>
          </a:p>
          <a:p>
            <a:pPr algn="ctr">
              <a:lnSpc>
                <a:spcPts val="6806"/>
              </a:lnSpc>
            </a:pPr>
            <a:r>
              <a:rPr lang="en-US" b="true" sz="5616" spc="308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MODEL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116247" y="550926"/>
            <a:ext cx="3236357" cy="839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65"/>
              </a:lnSpc>
            </a:pPr>
            <a:r>
              <a:rPr lang="en-US" b="true" sz="5499" spc="302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RESULTS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3768" y="2326939"/>
            <a:ext cx="15834078" cy="5958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3636"/>
              </a:lnSpc>
              <a:buAutoNum type="arabicPeriod" startAt="1"/>
            </a:pP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Successfully interfaced the</a:t>
            </a:r>
            <a:r>
              <a:rPr lang="en-US" b="true" sz="3000" spc="16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 MAX4466 microphone sensor</a:t>
            </a: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 with the TM4C123GH6PM microcontroller.</a:t>
            </a:r>
          </a:p>
          <a:p>
            <a:pPr algn="just" marL="647700" indent="-323850" lvl="1">
              <a:lnSpc>
                <a:spcPts val="3636"/>
              </a:lnSpc>
              <a:buAutoNum type="arabicPeriod" startAt="1"/>
            </a:pP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Real-time ADC values were successfully acquired from the </a:t>
            </a:r>
            <a:r>
              <a:rPr lang="en-US" b="true" sz="3000" spc="16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pressure-wave sensor.</a:t>
            </a:r>
          </a:p>
          <a:p>
            <a:pPr algn="just" marL="647700" indent="-323850" lvl="1">
              <a:lnSpc>
                <a:spcPts val="3636"/>
              </a:lnSpc>
              <a:buAutoNum type="arabicPeriod" startAt="1"/>
            </a:pP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The ADC reading was displayed correctly on the </a:t>
            </a:r>
            <a:r>
              <a:rPr lang="en-US" b="true" sz="3000" spc="165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OLED display via I²C communication.</a:t>
            </a:r>
          </a:p>
          <a:p>
            <a:pPr algn="just" marL="647700" indent="-323850" lvl="1">
              <a:lnSpc>
                <a:spcPts val="3636"/>
              </a:lnSpc>
              <a:buAutoNum type="arabicPeriod" startAt="1"/>
            </a:pP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The display confirmed that the Ghost Vehicle Detection System was initialized and functioning properly.</a:t>
            </a:r>
          </a:p>
          <a:p>
            <a:pPr algn="just" marL="647700" indent="-323850" lvl="1">
              <a:lnSpc>
                <a:spcPts val="3636"/>
              </a:lnSpc>
              <a:buAutoNum type="arabicPeriod" startAt="1"/>
            </a:pP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The prototype successfully demonstrated real-time acoustic pressure-wave monitoring.</a:t>
            </a:r>
          </a:p>
          <a:p>
            <a:pPr algn="just" marL="647700" indent="-323850" lvl="1">
              <a:lnSpc>
                <a:spcPts val="3636"/>
              </a:lnSpc>
              <a:buAutoNum type="arabicPeriod" startAt="1"/>
            </a:pPr>
            <a:r>
              <a:rPr lang="en-US" sz="3000" spc="165">
                <a:solidFill>
                  <a:srgbClr val="E1E3E1"/>
                </a:solidFill>
                <a:latin typeface="Roboto"/>
                <a:ea typeface="Roboto"/>
                <a:cs typeface="Roboto"/>
                <a:sym typeface="Roboto"/>
              </a:rPr>
              <a:t>The obtained results validate the feasibility of the proposed sensing approach for future ghost vehicle detection.</a:t>
            </a:r>
          </a:p>
          <a:p>
            <a:pPr algn="just">
              <a:lnSpc>
                <a:spcPts val="363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2442" y="362161"/>
            <a:ext cx="16706768" cy="1765756"/>
          </a:xfrm>
          <a:custGeom>
            <a:avLst/>
            <a:gdLst/>
            <a:ahLst/>
            <a:cxnLst/>
            <a:rect r="r" b="b" t="t" l="l"/>
            <a:pathLst>
              <a:path h="1765756" w="16706768">
                <a:moveTo>
                  <a:pt x="0" y="0"/>
                </a:moveTo>
                <a:lnTo>
                  <a:pt x="16706768" y="0"/>
                </a:lnTo>
                <a:lnTo>
                  <a:pt x="16706768" y="1765756"/>
                </a:lnTo>
                <a:lnTo>
                  <a:pt x="0" y="17657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7035" y="1966730"/>
            <a:ext cx="16342220" cy="6649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[1]. Zhang, Fengyuan, et al. "Adaptive sensor fusion for robust perception in dense fog: A gated vision and LiDAR integration framework." Sensors 26.12 (2026): 3728.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[2]. Q. Yuan et al., "Ensemble Artificial Intelligence Framework for Real-Time Automatic Vehicle Detection and Classifications," in IEEE Access, vol. 14, pp. 16034-16050, 2026, doi: 10.1109/ACCESS.2026.3657829.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keywords: {Vehicle detection;Artificial intelligence;Accuracy;Real-time systems;Detectors;YOLO;Autonomous vehicles;Automobiles;Robustness;Feature extraction;Deep learning;dynamic weighting;ensemble learning;real-time vehicle detection},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[3].Wang, Quanxiang, Zhaofa Zhou, and Zhili Zhang. "Fog-YOLO: A Real-Time Object Detector for Foggy Autonomous Driving Scenarios." Symmetry 18.2 (2026): 322.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[4]. Zhang, Bingli, et al. "FogFusion: Robust 3D object detection based on camera-LiDAR fusion for autonomous driving in foggy weather conditions." Proceedings of the Institution of Mechanical Engineers, Part D: Journal of Automobile Engineering 240.4 (2026): 2312-2322.</a:t>
            </a:r>
          </a:p>
          <a:p>
            <a:pPr algn="l">
              <a:lnSpc>
                <a:spcPts val="3102"/>
              </a:lnSpc>
              <a:spcBef>
                <a:spcPct val="0"/>
              </a:spcBef>
            </a:pPr>
          </a:p>
          <a:p>
            <a:pPr algn="l">
              <a:lnSpc>
                <a:spcPts val="3102"/>
              </a:lnSpc>
              <a:spcBef>
                <a:spcPct val="0"/>
              </a:spcBef>
            </a:pPr>
            <a:r>
              <a:rPr lang="en-US" sz="221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[5].Xie, Zilong, et al. "Dynamic Visibility Recognition and Driving Risk Assessment Under Rain–Fog Conditions Using Monocular Surveillance Imagery." Sustainability 18.2 (2026): 625.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56383" y="574388"/>
            <a:ext cx="4418886" cy="782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8"/>
              </a:lnSpc>
            </a:pPr>
            <a:r>
              <a:rPr lang="en-US" b="true" sz="5040" spc="277">
                <a:solidFill>
                  <a:srgbClr val="E1E3E1"/>
                </a:solidFill>
                <a:latin typeface="Roboto Bold"/>
                <a:ea typeface="Roboto Bold"/>
                <a:cs typeface="Roboto Bold"/>
                <a:sym typeface="Roboto Bold"/>
              </a:rPr>
              <a:t>REFERENCES</a:t>
            </a:r>
            <a:r>
              <a:rPr lang="en-US" b="true" sz="5040" spc="277">
                <a:solidFill>
                  <a:srgbClr val="8D9191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469" y="323685"/>
            <a:ext cx="16947912" cy="1791243"/>
          </a:xfrm>
          <a:custGeom>
            <a:avLst/>
            <a:gdLst/>
            <a:ahLst/>
            <a:cxnLst/>
            <a:rect r="r" b="b" t="t" l="l"/>
            <a:pathLst>
              <a:path h="1791243" w="16947912">
                <a:moveTo>
                  <a:pt x="0" y="0"/>
                </a:moveTo>
                <a:lnTo>
                  <a:pt x="16947912" y="0"/>
                </a:lnTo>
                <a:lnTo>
                  <a:pt x="16947912" y="1791243"/>
                </a:lnTo>
                <a:lnTo>
                  <a:pt x="0" y="1791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-492837"/>
            <a:ext cx="18171966" cy="10358020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0">
            <a:off x="1659022" y="2746092"/>
            <a:ext cx="14150806" cy="3576295"/>
          </a:xfrm>
          <a:custGeom>
            <a:avLst/>
            <a:gdLst/>
            <a:ahLst/>
            <a:cxnLst/>
            <a:rect r="r" b="b" t="t" l="l"/>
            <a:pathLst>
              <a:path h="3576295" w="14150806">
                <a:moveTo>
                  <a:pt x="0" y="0"/>
                </a:moveTo>
                <a:lnTo>
                  <a:pt x="14150806" y="0"/>
                </a:lnTo>
                <a:lnTo>
                  <a:pt x="14150806" y="3576295"/>
                </a:lnTo>
                <a:lnTo>
                  <a:pt x="0" y="35762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88668" y="3818438"/>
            <a:ext cx="12121160" cy="2503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64"/>
              </a:lnSpc>
            </a:pPr>
            <a:r>
              <a:rPr lang="en-US" b="true" sz="18464" spc="-683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 !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DAHNaaTkSpQ</dc:identifier>
  <dcterms:modified xsi:type="dcterms:W3CDTF">2011-08-01T06:04:30Z</dcterms:modified>
  <cp:revision>1</cp:revision>
  <dc:title>GhostSense_Edge_AI_Fog_Detection</dc:title>
</cp:coreProperties>
</file>