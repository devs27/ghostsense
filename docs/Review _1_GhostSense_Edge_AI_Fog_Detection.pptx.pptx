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7449800" cy="9753600"/>
  <p:notesSz cx="6858000" cy="9144000"/>
  <p:embeddedFontLst>
    <p:embeddedFont>
      <p:font typeface="Calibri (MS)" charset="1" panose="020F0502020204030204"/>
      <p:regular r:id="rId16"/>
    </p:embeddedFont>
    <p:embeddedFont>
      <p:font typeface="Times New Roman Bold" charset="1" panose="02020803070505020304"/>
      <p:regular r:id="rId17"/>
    </p:embeddedFont>
    <p:embeddedFont>
      <p:font typeface="Times New Roman" charset="1" panose="02020603050405020304"/>
      <p:regular r:id="rId18"/>
    </p:embeddedFont>
    <p:embeddedFont>
      <p:font typeface="Barlow Bold" charset="1" panose="00000800000000000000"/>
      <p:regular r:id="rId19"/>
    </p:embeddedFont>
    <p:embeddedFont>
      <p:font typeface="Open Sauce Bold" charset="1" panose="00000800000000000000"/>
      <p:regular r:id="rId20"/>
    </p:embeddedFont>
    <p:embeddedFont>
      <p:font typeface="CanvaSansSC-Regular" charset="1" panose="00000000000000000000"/>
      <p:regular r:id="rId21"/>
    </p:embeddedFont>
    <p:embeddedFont>
      <p:font typeface="Gotham Bold" charset="1" panose="00000000000000000000"/>
      <p:regular r:id="rId22"/>
    </p:embeddedFont>
    <p:embeddedFont>
      <p:font typeface="Gotham" charset="1" panose="00000000000000000000"/>
      <p:regular r:id="rId23"/>
    </p:embeddedFont>
    <p:embeddedFont>
      <p:font typeface="The Seasons Bold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sv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17" Target="../media/image22.png" Type="http://schemas.openxmlformats.org/officeDocument/2006/relationships/image"/><Relationship Id="rId18" Target="../media/image23.svg" Type="http://schemas.openxmlformats.org/officeDocument/2006/relationships/image"/><Relationship Id="rId19" Target="../media/image24.png" Type="http://schemas.openxmlformats.org/officeDocument/2006/relationships/image"/><Relationship Id="rId2" Target="../media/image7.png" Type="http://schemas.openxmlformats.org/officeDocument/2006/relationships/image"/><Relationship Id="rId20" Target="../media/image25.svg" Type="http://schemas.openxmlformats.org/officeDocument/2006/relationships/image"/><Relationship Id="rId21" Target="../media/image26.svg" Type="http://schemas.openxmlformats.org/officeDocument/2006/relationships/image"/><Relationship Id="rId22" Target="../media/image1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sv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media/image35.png" Type="http://schemas.openxmlformats.org/officeDocument/2006/relationships/image"/><Relationship Id="rId14" Target="../media/image36.svg" Type="http://schemas.openxmlformats.org/officeDocument/2006/relationships/image"/><Relationship Id="rId15" Target="../media/image37.png" Type="http://schemas.openxmlformats.org/officeDocument/2006/relationships/image"/><Relationship Id="rId16" Target="../media/image38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15" Target="../media/image49.svg" Type="http://schemas.openxmlformats.org/officeDocument/2006/relationships/image"/><Relationship Id="rId16" Target="../media/image50.png" Type="http://schemas.openxmlformats.org/officeDocument/2006/relationships/image"/><Relationship Id="rId17" Target="../media/image51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7.png" Type="http://schemas.openxmlformats.org/officeDocument/2006/relationships/image"/><Relationship Id="rId20" Target="../media/image54.png" Type="http://schemas.openxmlformats.org/officeDocument/2006/relationships/image"/><Relationship Id="rId21" Target="../media/image55.svg" Type="http://schemas.openxmlformats.org/officeDocument/2006/relationships/image"/><Relationship Id="rId22" Target="../media/image56.png" Type="http://schemas.openxmlformats.org/officeDocument/2006/relationships/image"/><Relationship Id="rId23" Target="../media/image57.svg" Type="http://schemas.openxmlformats.org/officeDocument/2006/relationships/image"/><Relationship Id="rId24" Target="../media/image58.png" Type="http://schemas.openxmlformats.org/officeDocument/2006/relationships/image"/><Relationship Id="rId25" Target="../media/image59.png" Type="http://schemas.openxmlformats.org/officeDocument/2006/relationships/image"/><Relationship Id="rId26" Target="../media/image60.svg" Type="http://schemas.openxmlformats.org/officeDocument/2006/relationships/image"/><Relationship Id="rId27" Target="../media/image61.png" Type="http://schemas.openxmlformats.org/officeDocument/2006/relationships/image"/><Relationship Id="rId28" Target="../media/image62.svg" Type="http://schemas.openxmlformats.org/officeDocument/2006/relationships/image"/><Relationship Id="rId29" Target="../media/image63.png" Type="http://schemas.openxmlformats.org/officeDocument/2006/relationships/image"/><Relationship Id="rId3" Target="../media/image8.svg" Type="http://schemas.openxmlformats.org/officeDocument/2006/relationships/image"/><Relationship Id="rId30" Target="../media/image64.svg" Type="http://schemas.openxmlformats.org/officeDocument/2006/relationships/image"/><Relationship Id="rId31" Target="../media/image65.png" Type="http://schemas.openxmlformats.org/officeDocument/2006/relationships/image"/><Relationship Id="rId32" Target="../media/image66.svg" Type="http://schemas.openxmlformats.org/officeDocument/2006/relationships/image"/><Relationship Id="rId33" Target="../media/image67.png" Type="http://schemas.openxmlformats.org/officeDocument/2006/relationships/image"/><Relationship Id="rId34" Target="../media/image68.svg" Type="http://schemas.openxmlformats.org/officeDocument/2006/relationships/image"/><Relationship Id="rId35" Target="../media/image69.png" Type="http://schemas.openxmlformats.org/officeDocument/2006/relationships/image"/><Relationship Id="rId36" Target="../media/image70.svg" Type="http://schemas.openxmlformats.org/officeDocument/2006/relationships/image"/><Relationship Id="rId37" Target="../media/image71.png" Type="http://schemas.openxmlformats.org/officeDocument/2006/relationships/image"/><Relationship Id="rId38" Target="../media/image72.svg" Type="http://schemas.openxmlformats.org/officeDocument/2006/relationships/image"/><Relationship Id="rId39" Target="../media/image73.png" Type="http://schemas.openxmlformats.org/officeDocument/2006/relationships/image"/><Relationship Id="rId4" Target="../media/image1.png" Type="http://schemas.openxmlformats.org/officeDocument/2006/relationships/image"/><Relationship Id="rId40" Target="../media/image74.svg" Type="http://schemas.openxmlformats.org/officeDocument/2006/relationships/image"/><Relationship Id="rId41" Target="../media/image75.png" Type="http://schemas.openxmlformats.org/officeDocument/2006/relationships/image"/><Relationship Id="rId42" Target="../media/image76.svg" Type="http://schemas.openxmlformats.org/officeDocument/2006/relationships/image"/><Relationship Id="rId43" Target="../media/image77.jpe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85.png" Type="http://schemas.openxmlformats.org/officeDocument/2006/relationships/image"/><Relationship Id="rId13" Target="../media/image86.png" Type="http://schemas.openxmlformats.org/officeDocument/2006/relationships/image"/><Relationship Id="rId14" Target="../media/image87.png" Type="http://schemas.openxmlformats.org/officeDocument/2006/relationships/image"/><Relationship Id="rId15" Target="../media/image88.png" Type="http://schemas.openxmlformats.org/officeDocument/2006/relationships/image"/><Relationship Id="rId16" Target="../media/image89.svg" Type="http://schemas.openxmlformats.org/officeDocument/2006/relationships/image"/><Relationship Id="rId17" Target="../media/image90.png" Type="http://schemas.openxmlformats.org/officeDocument/2006/relationships/image"/><Relationship Id="rId18" Target="../media/image91.svg" Type="http://schemas.openxmlformats.org/officeDocument/2006/relationships/image"/><Relationship Id="rId19" Target="../media/image92.png" Type="http://schemas.openxmlformats.org/officeDocument/2006/relationships/image"/><Relationship Id="rId2" Target="../media/image7.png" Type="http://schemas.openxmlformats.org/officeDocument/2006/relationships/image"/><Relationship Id="rId20" Target="../media/image93.svg" Type="http://schemas.openxmlformats.org/officeDocument/2006/relationships/image"/><Relationship Id="rId21" Target="../media/image94.png" Type="http://schemas.openxmlformats.org/officeDocument/2006/relationships/image"/><Relationship Id="rId22" Target="../media/image95.svg" Type="http://schemas.openxmlformats.org/officeDocument/2006/relationships/image"/><Relationship Id="rId23" Target="../media/image96.png" Type="http://schemas.openxmlformats.org/officeDocument/2006/relationships/image"/><Relationship Id="rId24" Target="../media/image97.svg" Type="http://schemas.openxmlformats.org/officeDocument/2006/relationships/image"/><Relationship Id="rId25" Target="../media/image98.png" Type="http://schemas.openxmlformats.org/officeDocument/2006/relationships/image"/><Relationship Id="rId26" Target="../media/image99.sv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10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101.png" Type="http://schemas.openxmlformats.org/officeDocument/2006/relationships/image"/><Relationship Id="rId6" Target="../media/image10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svg" Type="http://schemas.openxmlformats.org/officeDocument/2006/relationships/image"/><Relationship Id="rId11" Target="../media/image109.png" Type="http://schemas.openxmlformats.org/officeDocument/2006/relationships/image"/><Relationship Id="rId12" Target="../media/image110.svg" Type="http://schemas.openxmlformats.org/officeDocument/2006/relationships/image"/><Relationship Id="rId13" Target="../media/image111.png" Type="http://schemas.openxmlformats.org/officeDocument/2006/relationships/image"/><Relationship Id="rId14" Target="../media/image112.svg" Type="http://schemas.openxmlformats.org/officeDocument/2006/relationships/image"/><Relationship Id="rId15" Target="../media/image113.png" Type="http://schemas.openxmlformats.org/officeDocument/2006/relationships/image"/><Relationship Id="rId16" Target="../media/image114.svg" Type="http://schemas.openxmlformats.org/officeDocument/2006/relationships/image"/><Relationship Id="rId17" Target="../media/image115.png" Type="http://schemas.openxmlformats.org/officeDocument/2006/relationships/image"/><Relationship Id="rId18" Target="../media/image116.svg" Type="http://schemas.openxmlformats.org/officeDocument/2006/relationships/image"/><Relationship Id="rId19" Target="../media/image117.png" Type="http://schemas.openxmlformats.org/officeDocument/2006/relationships/image"/><Relationship Id="rId2" Target="../media/image7.png" Type="http://schemas.openxmlformats.org/officeDocument/2006/relationships/image"/><Relationship Id="rId20" Target="../media/image118.sv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Relationship Id="rId7" Target="../media/image105.png" Type="http://schemas.openxmlformats.org/officeDocument/2006/relationships/image"/><Relationship Id="rId8" Target="../media/image106.sv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19.png" Type="http://schemas.openxmlformats.org/officeDocument/2006/relationships/image"/><Relationship Id="rId4" Target="../media/image1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2442" y="362160"/>
            <a:ext cx="16706755" cy="1765744"/>
            <a:chOff x="0" y="0"/>
            <a:chExt cx="22275673" cy="2354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453404" y="8901522"/>
            <a:ext cx="3841623" cy="511302"/>
            <a:chOff x="0" y="0"/>
            <a:chExt cx="5122164" cy="6817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22164" cy="681736"/>
            </a:xfrm>
            <a:custGeom>
              <a:avLst/>
              <a:gdLst/>
              <a:ahLst/>
              <a:cxnLst/>
              <a:rect r="r" b="b" t="t" l="l"/>
              <a:pathLst>
                <a:path h="681736" w="5122164">
                  <a:moveTo>
                    <a:pt x="0" y="0"/>
                  </a:moveTo>
                  <a:lnTo>
                    <a:pt x="5122164" y="0"/>
                  </a:lnTo>
                  <a:lnTo>
                    <a:pt x="5122164" y="681736"/>
                  </a:lnTo>
                  <a:lnTo>
                    <a:pt x="0" y="681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093" r="0" b="-9609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453404" y="8874843"/>
            <a:ext cx="3841613" cy="538001"/>
            <a:chOff x="0" y="0"/>
            <a:chExt cx="5122151" cy="7173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2164" cy="717296"/>
            </a:xfrm>
            <a:custGeom>
              <a:avLst/>
              <a:gdLst/>
              <a:ahLst/>
              <a:cxnLst/>
              <a:rect r="r" b="b" t="t" l="l"/>
              <a:pathLst>
                <a:path h="717296" w="5122164">
                  <a:moveTo>
                    <a:pt x="0" y="0"/>
                  </a:moveTo>
                  <a:lnTo>
                    <a:pt x="5122164" y="0"/>
                  </a:lnTo>
                  <a:lnTo>
                    <a:pt x="5122164" y="717296"/>
                  </a:lnTo>
                  <a:lnTo>
                    <a:pt x="0" y="7172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9042" r="0" b="-89047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453404" y="8846268"/>
            <a:ext cx="3841613" cy="566576"/>
            <a:chOff x="0" y="0"/>
            <a:chExt cx="5122151" cy="7554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22151" cy="755435"/>
            </a:xfrm>
            <a:custGeom>
              <a:avLst/>
              <a:gdLst/>
              <a:ahLst/>
              <a:cxnLst/>
              <a:rect r="r" b="b" t="t" l="l"/>
              <a:pathLst>
                <a:path h="755435" w="5122151">
                  <a:moveTo>
                    <a:pt x="0" y="0"/>
                  </a:moveTo>
                  <a:lnTo>
                    <a:pt x="5122151" y="0"/>
                  </a:lnTo>
                  <a:lnTo>
                    <a:pt x="5122151" y="755435"/>
                  </a:lnTo>
                  <a:lnTo>
                    <a:pt x="0" y="75543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2116" r="0" b="-821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122151" cy="7935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15"/>
                </a:lnSpc>
              </a:pPr>
              <a:r>
                <a:rPr lang="en-US" sz="1679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6987" y="4532728"/>
            <a:ext cx="17165384" cy="5079778"/>
            <a:chOff x="0" y="0"/>
            <a:chExt cx="22887178" cy="67730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887178" cy="6773037"/>
            </a:xfrm>
            <a:custGeom>
              <a:avLst/>
              <a:gdLst/>
              <a:ahLst/>
              <a:cxnLst/>
              <a:rect r="r" b="b" t="t" l="l"/>
              <a:pathLst>
                <a:path h="6773037" w="22887178">
                  <a:moveTo>
                    <a:pt x="0" y="0"/>
                  </a:moveTo>
                  <a:lnTo>
                    <a:pt x="22887178" y="0"/>
                  </a:lnTo>
                  <a:lnTo>
                    <a:pt x="22887178" y="6773037"/>
                  </a:lnTo>
                  <a:lnTo>
                    <a:pt x="0" y="6773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91000"/>
              </a:blip>
              <a:stretch>
                <a:fillRect l="0" t="-543" r="0" b="-54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17694" y="142151"/>
            <a:ext cx="4441508" cy="942118"/>
            <a:chOff x="0" y="0"/>
            <a:chExt cx="5922010" cy="125615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22010" cy="1256157"/>
            </a:xfrm>
            <a:custGeom>
              <a:avLst/>
              <a:gdLst/>
              <a:ahLst/>
              <a:cxnLst/>
              <a:rect r="r" b="b" t="t" l="l"/>
              <a:pathLst>
                <a:path h="1256157" w="5922010">
                  <a:moveTo>
                    <a:pt x="0" y="0"/>
                  </a:moveTo>
                  <a:lnTo>
                    <a:pt x="5922010" y="0"/>
                  </a:lnTo>
                  <a:lnTo>
                    <a:pt x="5922010" y="1256157"/>
                  </a:lnTo>
                  <a:lnTo>
                    <a:pt x="0" y="1256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988" r="0" b="-14987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29024" y="1825809"/>
            <a:ext cx="16073609" cy="190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2"/>
              </a:lnSpc>
            </a:pPr>
            <a:r>
              <a:rPr lang="en-US" sz="6068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Ghost Vehicle in Fog Detector Using Pressure Wave Sensing Before Headlights Appear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91527" y="4591926"/>
            <a:ext cx="2917193" cy="451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b="true" sz="2136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 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19881" y="4975822"/>
            <a:ext cx="6860486" cy="1200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0"/>
              </a:lnSpc>
            </a:pPr>
            <a:r>
              <a:rPr lang="en-US" sz="213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Dr. C. Ganesh Kumar</a:t>
            </a:r>
          </a:p>
          <a:p>
            <a:pPr algn="ctr">
              <a:lnSpc>
                <a:spcPts val="2990"/>
              </a:lnSpc>
            </a:pPr>
            <a:r>
              <a:rPr lang="en-US" sz="213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Chairperson, Department of Electronics and Communication Engineering, School of Computing, Chennai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15162" y="4565733"/>
            <a:ext cx="4209926" cy="50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b="true" sz="2334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21035" y="4966745"/>
            <a:ext cx="6398181" cy="132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5"/>
              </a:lnSpc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Akshaya M V - CH.EN.U4CCE24003</a:t>
            </a:r>
          </a:p>
          <a:p>
            <a:pPr algn="l">
              <a:lnSpc>
                <a:spcPts val="3265"/>
              </a:lnSpc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Devadharshini P - CH.EN.U4CCE24004</a:t>
            </a:r>
          </a:p>
          <a:p>
            <a:pPr algn="l">
              <a:lnSpc>
                <a:spcPts val="3265"/>
              </a:lnSpc>
            </a:pPr>
            <a:r>
              <a:rPr lang="en-US" sz="23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Mukesh - CH.EN.U4CCE24015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45290" y="426225"/>
            <a:ext cx="10073926" cy="4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74"/>
              </a:lnSpc>
            </a:pPr>
            <a:r>
              <a:rPr lang="en-US" b="true" sz="3600" spc="-2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Embedded Systems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92" y="1434732"/>
            <a:ext cx="950986" cy="373170"/>
          </a:xfrm>
          <a:custGeom>
            <a:avLst/>
            <a:gdLst/>
            <a:ahLst/>
            <a:cxnLst/>
            <a:rect r="r" b="b" t="t" l="l"/>
            <a:pathLst>
              <a:path h="373170" w="950986">
                <a:moveTo>
                  <a:pt x="0" y="0"/>
                </a:moveTo>
                <a:lnTo>
                  <a:pt x="950986" y="0"/>
                </a:lnTo>
                <a:lnTo>
                  <a:pt x="950986" y="373170"/>
                </a:lnTo>
                <a:lnTo>
                  <a:pt x="0" y="3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67" r="0" b="-96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62069" y="3783501"/>
            <a:ext cx="1041263" cy="914867"/>
          </a:xfrm>
          <a:custGeom>
            <a:avLst/>
            <a:gdLst/>
            <a:ahLst/>
            <a:cxnLst/>
            <a:rect r="r" b="b" t="t" l="l"/>
            <a:pathLst>
              <a:path h="914867" w="1041263">
                <a:moveTo>
                  <a:pt x="0" y="0"/>
                </a:moveTo>
                <a:lnTo>
                  <a:pt x="1041264" y="0"/>
                </a:lnTo>
                <a:lnTo>
                  <a:pt x="1041264" y="914867"/>
                </a:lnTo>
                <a:lnTo>
                  <a:pt x="0" y="91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82" r="0" b="-18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62069" y="4994700"/>
            <a:ext cx="1041263" cy="914867"/>
          </a:xfrm>
          <a:custGeom>
            <a:avLst/>
            <a:gdLst/>
            <a:ahLst/>
            <a:cxnLst/>
            <a:rect r="r" b="b" t="t" l="l"/>
            <a:pathLst>
              <a:path h="914867" w="1041263">
                <a:moveTo>
                  <a:pt x="0" y="0"/>
                </a:moveTo>
                <a:lnTo>
                  <a:pt x="1041264" y="0"/>
                </a:lnTo>
                <a:lnTo>
                  <a:pt x="1041264" y="914867"/>
                </a:lnTo>
                <a:lnTo>
                  <a:pt x="0" y="91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2" r="0" b="-18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62069" y="6205909"/>
            <a:ext cx="1041263" cy="914867"/>
          </a:xfrm>
          <a:custGeom>
            <a:avLst/>
            <a:gdLst/>
            <a:ahLst/>
            <a:cxnLst/>
            <a:rect r="r" b="b" t="t" l="l"/>
            <a:pathLst>
              <a:path h="914867" w="1041263">
                <a:moveTo>
                  <a:pt x="0" y="0"/>
                </a:moveTo>
                <a:lnTo>
                  <a:pt x="1041264" y="0"/>
                </a:lnTo>
                <a:lnTo>
                  <a:pt x="1041264" y="914867"/>
                </a:lnTo>
                <a:lnTo>
                  <a:pt x="0" y="9148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82" r="0" b="-183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65185" y="3784244"/>
            <a:ext cx="5233330" cy="911866"/>
            <a:chOff x="0" y="0"/>
            <a:chExt cx="6977774" cy="12158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977761" cy="1215771"/>
            </a:xfrm>
            <a:custGeom>
              <a:avLst/>
              <a:gdLst/>
              <a:ahLst/>
              <a:cxnLst/>
              <a:rect r="r" b="b" t="t" l="l"/>
              <a:pathLst>
                <a:path h="1215771" w="6977761">
                  <a:moveTo>
                    <a:pt x="0" y="0"/>
                  </a:moveTo>
                  <a:lnTo>
                    <a:pt x="6977761" y="0"/>
                  </a:lnTo>
                  <a:lnTo>
                    <a:pt x="6977761" y="1215771"/>
                  </a:lnTo>
                  <a:lnTo>
                    <a:pt x="0" y="1215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718" r="0" b="-672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865185" y="4995453"/>
            <a:ext cx="5233330" cy="911866"/>
            <a:chOff x="0" y="0"/>
            <a:chExt cx="6977774" cy="12158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77761" cy="1215771"/>
            </a:xfrm>
            <a:custGeom>
              <a:avLst/>
              <a:gdLst/>
              <a:ahLst/>
              <a:cxnLst/>
              <a:rect r="r" b="b" t="t" l="l"/>
              <a:pathLst>
                <a:path h="1215771" w="6977761">
                  <a:moveTo>
                    <a:pt x="0" y="0"/>
                  </a:moveTo>
                  <a:lnTo>
                    <a:pt x="6977761" y="0"/>
                  </a:lnTo>
                  <a:lnTo>
                    <a:pt x="6977761" y="1215771"/>
                  </a:lnTo>
                  <a:lnTo>
                    <a:pt x="0" y="1215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718" r="0" b="-672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865185" y="6206652"/>
            <a:ext cx="5233330" cy="911866"/>
            <a:chOff x="0" y="0"/>
            <a:chExt cx="6977774" cy="12158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77761" cy="1215771"/>
            </a:xfrm>
            <a:custGeom>
              <a:avLst/>
              <a:gdLst/>
              <a:ahLst/>
              <a:cxnLst/>
              <a:rect r="r" b="b" t="t" l="l"/>
              <a:pathLst>
                <a:path h="1215771" w="6977761">
                  <a:moveTo>
                    <a:pt x="0" y="0"/>
                  </a:moveTo>
                  <a:lnTo>
                    <a:pt x="6977761" y="0"/>
                  </a:lnTo>
                  <a:lnTo>
                    <a:pt x="6977761" y="1215771"/>
                  </a:lnTo>
                  <a:lnTo>
                    <a:pt x="0" y="12157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718" r="0" b="-6723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554182" y="4012216"/>
            <a:ext cx="457438" cy="457438"/>
          </a:xfrm>
          <a:custGeom>
            <a:avLst/>
            <a:gdLst/>
            <a:ahLst/>
            <a:cxnLst/>
            <a:rect r="r" b="b" t="t" l="l"/>
            <a:pathLst>
              <a:path h="457438" w="457438">
                <a:moveTo>
                  <a:pt x="0" y="0"/>
                </a:moveTo>
                <a:lnTo>
                  <a:pt x="457438" y="0"/>
                </a:lnTo>
                <a:lnTo>
                  <a:pt x="457438" y="457438"/>
                </a:lnTo>
                <a:lnTo>
                  <a:pt x="0" y="4574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554182" y="5223415"/>
            <a:ext cx="457438" cy="457438"/>
          </a:xfrm>
          <a:custGeom>
            <a:avLst/>
            <a:gdLst/>
            <a:ahLst/>
            <a:cxnLst/>
            <a:rect r="r" b="b" t="t" l="l"/>
            <a:pathLst>
              <a:path h="457438" w="457438">
                <a:moveTo>
                  <a:pt x="0" y="0"/>
                </a:moveTo>
                <a:lnTo>
                  <a:pt x="457438" y="0"/>
                </a:lnTo>
                <a:lnTo>
                  <a:pt x="457438" y="457438"/>
                </a:lnTo>
                <a:lnTo>
                  <a:pt x="0" y="4574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54182" y="6434623"/>
            <a:ext cx="457438" cy="457438"/>
          </a:xfrm>
          <a:custGeom>
            <a:avLst/>
            <a:gdLst/>
            <a:ahLst/>
            <a:cxnLst/>
            <a:rect r="r" b="b" t="t" l="l"/>
            <a:pathLst>
              <a:path h="457438" w="457438">
                <a:moveTo>
                  <a:pt x="0" y="0"/>
                </a:moveTo>
                <a:lnTo>
                  <a:pt x="457438" y="0"/>
                </a:lnTo>
                <a:lnTo>
                  <a:pt x="457438" y="457438"/>
                </a:lnTo>
                <a:lnTo>
                  <a:pt x="0" y="4574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791662" y="8009058"/>
            <a:ext cx="1016365" cy="1016365"/>
          </a:xfrm>
          <a:custGeom>
            <a:avLst/>
            <a:gdLst/>
            <a:ahLst/>
            <a:cxnLst/>
            <a:rect r="r" b="b" t="t" l="l"/>
            <a:pathLst>
              <a:path h="1016365" w="1016365">
                <a:moveTo>
                  <a:pt x="0" y="0"/>
                </a:moveTo>
                <a:lnTo>
                  <a:pt x="1016365" y="0"/>
                </a:lnTo>
                <a:lnTo>
                  <a:pt x="1016365" y="1016365"/>
                </a:lnTo>
                <a:lnTo>
                  <a:pt x="0" y="10163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694714" y="7976721"/>
            <a:ext cx="1082650" cy="1082650"/>
          </a:xfrm>
          <a:custGeom>
            <a:avLst/>
            <a:gdLst/>
            <a:ahLst/>
            <a:cxnLst/>
            <a:rect r="r" b="b" t="t" l="l"/>
            <a:pathLst>
              <a:path h="1082650" w="1082650">
                <a:moveTo>
                  <a:pt x="0" y="0"/>
                </a:moveTo>
                <a:lnTo>
                  <a:pt x="1082650" y="0"/>
                </a:lnTo>
                <a:lnTo>
                  <a:pt x="1082650" y="1082649"/>
                </a:lnTo>
                <a:lnTo>
                  <a:pt x="0" y="10826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439" t="0" r="-438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664546" y="8061388"/>
            <a:ext cx="1060552" cy="964806"/>
          </a:xfrm>
          <a:custGeom>
            <a:avLst/>
            <a:gdLst/>
            <a:ahLst/>
            <a:cxnLst/>
            <a:rect r="r" b="b" t="t" l="l"/>
            <a:pathLst>
              <a:path h="964806" w="1060552">
                <a:moveTo>
                  <a:pt x="0" y="0"/>
                </a:moveTo>
                <a:lnTo>
                  <a:pt x="1060552" y="0"/>
                </a:lnTo>
                <a:lnTo>
                  <a:pt x="1060552" y="964807"/>
                </a:lnTo>
                <a:lnTo>
                  <a:pt x="0" y="96480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391" t="0" r="-391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38006" y="4079529"/>
            <a:ext cx="120377" cy="120377"/>
          </a:xfrm>
          <a:custGeom>
            <a:avLst/>
            <a:gdLst/>
            <a:ahLst/>
            <a:cxnLst/>
            <a:rect r="r" b="b" t="t" l="l"/>
            <a:pathLst>
              <a:path h="120377" w="120377">
                <a:moveTo>
                  <a:pt x="0" y="0"/>
                </a:moveTo>
                <a:lnTo>
                  <a:pt x="120377" y="0"/>
                </a:lnTo>
                <a:lnTo>
                  <a:pt x="120377" y="120377"/>
                </a:lnTo>
                <a:lnTo>
                  <a:pt x="0" y="1203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38006" y="5993540"/>
            <a:ext cx="120377" cy="120377"/>
          </a:xfrm>
          <a:custGeom>
            <a:avLst/>
            <a:gdLst/>
            <a:ahLst/>
            <a:cxnLst/>
            <a:rect r="r" b="b" t="t" l="l"/>
            <a:pathLst>
              <a:path h="120377" w="120377">
                <a:moveTo>
                  <a:pt x="0" y="0"/>
                </a:moveTo>
                <a:lnTo>
                  <a:pt x="120377" y="0"/>
                </a:lnTo>
                <a:lnTo>
                  <a:pt x="120377" y="120377"/>
                </a:lnTo>
                <a:lnTo>
                  <a:pt x="0" y="12037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76276" y="425872"/>
            <a:ext cx="16706755" cy="1765744"/>
            <a:chOff x="0" y="0"/>
            <a:chExt cx="22275673" cy="235432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25754" y="3964772"/>
            <a:ext cx="2118122" cy="45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2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New Paradigm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25754" y="5175980"/>
            <a:ext cx="2744629" cy="45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2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Technology Stack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25754" y="6387179"/>
            <a:ext cx="3184922" cy="45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4"/>
              </a:lnSpc>
            </a:pPr>
            <a:r>
              <a:rPr lang="en-US" sz="2274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Zero-Latency Intelligence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99921" y="2474024"/>
            <a:ext cx="6292101" cy="107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0"/>
              </a:lnSpc>
            </a:pPr>
            <a:r>
              <a:rPr lang="en-US" sz="5307" b="true">
                <a:solidFill>
                  <a:srgbClr val="3B97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Edge-AI Solution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5098" y="459343"/>
            <a:ext cx="8725614" cy="149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05"/>
              </a:lnSpc>
            </a:pPr>
            <a:r>
              <a:rPr lang="en-US" sz="7359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Ghost Sense Initiative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2900" y="2744076"/>
            <a:ext cx="4534729" cy="668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b="true" sz="3311" spc="330">
                <a:solidFill>
                  <a:srgbClr val="3B97D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Invisible Threat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8280" y="3811800"/>
            <a:ext cx="6906597" cy="3383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5"/>
              </a:lnSpc>
            </a:pPr>
            <a:r>
              <a:rPr lang="en-US" sz="284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 fog critically </a:t>
            </a:r>
            <a:r>
              <a:rPr lang="en-US" sz="2841">
                <a:solidFill>
                  <a:srgbClr val="3B97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visual range</a:t>
            </a:r>
            <a:r>
              <a:rPr lang="en-US" sz="284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highways and rural roads, rendering standard headlights ineffective.</a:t>
            </a:r>
          </a:p>
          <a:p>
            <a:pPr algn="l">
              <a:lnSpc>
                <a:spcPts val="3765"/>
              </a:lnSpc>
            </a:pPr>
            <a:r>
              <a:rPr lang="en-US" sz="284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Drivers face severely </a:t>
            </a:r>
            <a:r>
              <a:rPr lang="en-US" sz="2841">
                <a:solidFill>
                  <a:srgbClr val="3B97D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delayed detection</a:t>
            </a:r>
            <a:r>
              <a:rPr lang="en-US" sz="284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approaching vehicles, drastically increasing the likelihood of high-speed, catastrophic collisions.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23527" y="8193710"/>
            <a:ext cx="1080287" cy="5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01226" y="8132093"/>
            <a:ext cx="1532506" cy="5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148274" y="8193710"/>
            <a:ext cx="1080002" cy="55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7"/>
              </a:lnSpc>
            </a:pPr>
            <a:r>
              <a:rPr lang="en-US" sz="2783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92" y="1434732"/>
            <a:ext cx="950986" cy="373170"/>
          </a:xfrm>
          <a:custGeom>
            <a:avLst/>
            <a:gdLst/>
            <a:ahLst/>
            <a:cxnLst/>
            <a:rect r="r" b="b" t="t" l="l"/>
            <a:pathLst>
              <a:path h="373170" w="950986">
                <a:moveTo>
                  <a:pt x="0" y="0"/>
                </a:moveTo>
                <a:lnTo>
                  <a:pt x="950986" y="0"/>
                </a:lnTo>
                <a:lnTo>
                  <a:pt x="950986" y="373170"/>
                </a:lnTo>
                <a:lnTo>
                  <a:pt x="0" y="3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67" r="0" b="-9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6276" y="425872"/>
            <a:ext cx="16706755" cy="1765744"/>
            <a:chOff x="0" y="0"/>
            <a:chExt cx="22275673" cy="23543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27132" y="6548923"/>
            <a:ext cx="888492" cy="872747"/>
          </a:xfrm>
          <a:custGeom>
            <a:avLst/>
            <a:gdLst/>
            <a:ahLst/>
            <a:cxnLst/>
            <a:rect r="r" b="b" t="t" l="l"/>
            <a:pathLst>
              <a:path h="872747" w="888492">
                <a:moveTo>
                  <a:pt x="0" y="0"/>
                </a:moveTo>
                <a:lnTo>
                  <a:pt x="888492" y="0"/>
                </a:lnTo>
                <a:lnTo>
                  <a:pt x="888492" y="872747"/>
                </a:lnTo>
                <a:lnTo>
                  <a:pt x="0" y="8727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18871" y="6536607"/>
            <a:ext cx="937641" cy="933317"/>
          </a:xfrm>
          <a:custGeom>
            <a:avLst/>
            <a:gdLst/>
            <a:ahLst/>
            <a:cxnLst/>
            <a:rect r="r" b="b" t="t" l="l"/>
            <a:pathLst>
              <a:path h="933317" w="937641">
                <a:moveTo>
                  <a:pt x="0" y="0"/>
                </a:moveTo>
                <a:lnTo>
                  <a:pt x="937641" y="0"/>
                </a:lnTo>
                <a:lnTo>
                  <a:pt x="937641" y="933317"/>
                </a:lnTo>
                <a:lnTo>
                  <a:pt x="0" y="933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9536" y="2777928"/>
            <a:ext cx="189995" cy="116272"/>
          </a:xfrm>
          <a:custGeom>
            <a:avLst/>
            <a:gdLst/>
            <a:ahLst/>
            <a:cxnLst/>
            <a:rect r="r" b="b" t="t" l="l"/>
            <a:pathLst>
              <a:path h="116272" w="189995">
                <a:moveTo>
                  <a:pt x="0" y="0"/>
                </a:moveTo>
                <a:lnTo>
                  <a:pt x="189995" y="0"/>
                </a:lnTo>
                <a:lnTo>
                  <a:pt x="189995" y="116272"/>
                </a:lnTo>
                <a:lnTo>
                  <a:pt x="0" y="1162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79536" y="3219183"/>
            <a:ext cx="189995" cy="116272"/>
          </a:xfrm>
          <a:custGeom>
            <a:avLst/>
            <a:gdLst/>
            <a:ahLst/>
            <a:cxnLst/>
            <a:rect r="r" b="b" t="t" l="l"/>
            <a:pathLst>
              <a:path h="116272" w="189995">
                <a:moveTo>
                  <a:pt x="0" y="0"/>
                </a:moveTo>
                <a:lnTo>
                  <a:pt x="189995" y="0"/>
                </a:lnTo>
                <a:lnTo>
                  <a:pt x="189995" y="116272"/>
                </a:lnTo>
                <a:lnTo>
                  <a:pt x="0" y="1162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9536" y="4452337"/>
            <a:ext cx="173307" cy="106061"/>
          </a:xfrm>
          <a:custGeom>
            <a:avLst/>
            <a:gdLst/>
            <a:ahLst/>
            <a:cxnLst/>
            <a:rect r="r" b="b" t="t" l="l"/>
            <a:pathLst>
              <a:path h="106061" w="173307">
                <a:moveTo>
                  <a:pt x="0" y="0"/>
                </a:moveTo>
                <a:lnTo>
                  <a:pt x="173308" y="0"/>
                </a:lnTo>
                <a:lnTo>
                  <a:pt x="173308" y="106061"/>
                </a:lnTo>
                <a:lnTo>
                  <a:pt x="0" y="1060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79536" y="4854816"/>
            <a:ext cx="173307" cy="106061"/>
          </a:xfrm>
          <a:custGeom>
            <a:avLst/>
            <a:gdLst/>
            <a:ahLst/>
            <a:cxnLst/>
            <a:rect r="r" b="b" t="t" l="l"/>
            <a:pathLst>
              <a:path h="106061" w="173307">
                <a:moveTo>
                  <a:pt x="0" y="0"/>
                </a:moveTo>
                <a:lnTo>
                  <a:pt x="173308" y="0"/>
                </a:lnTo>
                <a:lnTo>
                  <a:pt x="173308" y="106061"/>
                </a:lnTo>
                <a:lnTo>
                  <a:pt x="0" y="1060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829459" y="8260166"/>
            <a:ext cx="95374" cy="95374"/>
          </a:xfrm>
          <a:custGeom>
            <a:avLst/>
            <a:gdLst/>
            <a:ahLst/>
            <a:cxnLst/>
            <a:rect r="r" b="b" t="t" l="l"/>
            <a:pathLst>
              <a:path h="95374" w="95374">
                <a:moveTo>
                  <a:pt x="0" y="0"/>
                </a:moveTo>
                <a:lnTo>
                  <a:pt x="95374" y="0"/>
                </a:lnTo>
                <a:lnTo>
                  <a:pt x="95374" y="95374"/>
                </a:lnTo>
                <a:lnTo>
                  <a:pt x="0" y="953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88959" y="8634336"/>
            <a:ext cx="95374" cy="95374"/>
          </a:xfrm>
          <a:custGeom>
            <a:avLst/>
            <a:gdLst/>
            <a:ahLst/>
            <a:cxnLst/>
            <a:rect r="r" b="b" t="t" l="l"/>
            <a:pathLst>
              <a:path h="95374" w="95374">
                <a:moveTo>
                  <a:pt x="0" y="0"/>
                </a:moveTo>
                <a:lnTo>
                  <a:pt x="95374" y="0"/>
                </a:lnTo>
                <a:lnTo>
                  <a:pt x="95374" y="95374"/>
                </a:lnTo>
                <a:lnTo>
                  <a:pt x="0" y="953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410305" y="6611007"/>
            <a:ext cx="857983" cy="773306"/>
          </a:xfrm>
          <a:custGeom>
            <a:avLst/>
            <a:gdLst/>
            <a:ahLst/>
            <a:cxnLst/>
            <a:rect r="r" b="b" t="t" l="l"/>
            <a:pathLst>
              <a:path h="773306" w="857983">
                <a:moveTo>
                  <a:pt x="0" y="0"/>
                </a:moveTo>
                <a:lnTo>
                  <a:pt x="857983" y="0"/>
                </a:lnTo>
                <a:lnTo>
                  <a:pt x="857983" y="773306"/>
                </a:lnTo>
                <a:lnTo>
                  <a:pt x="0" y="77330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075640" y="6707019"/>
            <a:ext cx="93154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2410" y="7758617"/>
            <a:ext cx="4145185" cy="108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8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invisible pressure disturbances generated by moving vehicles.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18471" y="6671872"/>
            <a:ext cx="1321479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00254" y="7925457"/>
            <a:ext cx="4236434" cy="74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 real-time signal analysis natively on a Cortex-M core.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0905" y="2519772"/>
            <a:ext cx="14633143" cy="112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361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Utilizes highly sensitive MEMS acoustic sensors. Processes physical data locally on a Cortex-M microcontroller.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06778" y="6689474"/>
            <a:ext cx="870947" cy="468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24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WARN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3824" y="4248750"/>
            <a:ext cx="15081856" cy="1033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2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Deploys TinyML and Edge-AI directly on the chip. Triggers life-saving early warnings without relying on: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9536" y="937260"/>
            <a:ext cx="16455457" cy="105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2"/>
              </a:lnSpc>
            </a:pPr>
            <a:r>
              <a:rPr lang="en-US" sz="336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Detecting approaching vehicles before they become visible by capturing the low-frequency pressure waves they push ahead of them.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72284" y="7635097"/>
            <a:ext cx="492597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Trigger immediate driver alerts through: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90359" y="8092297"/>
            <a:ext cx="4992691" cy="746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indicators (LEDs/Display) Audible alarms (Buzzer)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92" y="1434732"/>
            <a:ext cx="950986" cy="373170"/>
          </a:xfrm>
          <a:custGeom>
            <a:avLst/>
            <a:gdLst/>
            <a:ahLst/>
            <a:cxnLst/>
            <a:rect r="r" b="b" t="t" l="l"/>
            <a:pathLst>
              <a:path h="373170" w="950986">
                <a:moveTo>
                  <a:pt x="0" y="0"/>
                </a:moveTo>
                <a:lnTo>
                  <a:pt x="950986" y="0"/>
                </a:lnTo>
                <a:lnTo>
                  <a:pt x="950986" y="373170"/>
                </a:lnTo>
                <a:lnTo>
                  <a:pt x="0" y="3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67" r="0" b="-9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6276" y="189527"/>
            <a:ext cx="16706755" cy="1765744"/>
            <a:chOff x="0" y="0"/>
            <a:chExt cx="22275673" cy="23543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913996" y="4606378"/>
            <a:ext cx="516120" cy="3435266"/>
            <a:chOff x="0" y="0"/>
            <a:chExt cx="746900" cy="49713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5"/>
              <a:stretch>
                <a:fillRect l="-164" t="0" r="-16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008872" y="4683623"/>
            <a:ext cx="396671" cy="365078"/>
            <a:chOff x="0" y="0"/>
            <a:chExt cx="574040" cy="5283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000096" y="469239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008872" y="5047999"/>
            <a:ext cx="396671" cy="362445"/>
            <a:chOff x="0" y="0"/>
            <a:chExt cx="574040" cy="524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000096" y="5039223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00096" y="5429751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6"/>
                </a:lnTo>
                <a:lnTo>
                  <a:pt x="0" y="379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000096" y="543589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008872" y="5821683"/>
            <a:ext cx="396671" cy="362445"/>
            <a:chOff x="0" y="0"/>
            <a:chExt cx="574040" cy="5245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6000096" y="5812907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6"/>
                </a:lnTo>
                <a:lnTo>
                  <a:pt x="0" y="379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008872" y="6183952"/>
            <a:ext cx="396671" cy="365078"/>
            <a:chOff x="0" y="0"/>
            <a:chExt cx="574040" cy="528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6000096" y="6175176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008872" y="6548328"/>
            <a:ext cx="396671" cy="365078"/>
            <a:chOff x="0" y="0"/>
            <a:chExt cx="574040" cy="528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6000096" y="6539552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008872" y="6914809"/>
            <a:ext cx="396671" cy="365078"/>
            <a:chOff x="0" y="0"/>
            <a:chExt cx="574040" cy="528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6000096" y="6906033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008872" y="7291822"/>
            <a:ext cx="396671" cy="365078"/>
            <a:chOff x="0" y="0"/>
            <a:chExt cx="574040" cy="528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6000096" y="7283046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6008872" y="7651985"/>
            <a:ext cx="396671" cy="365078"/>
            <a:chOff x="0" y="0"/>
            <a:chExt cx="574040" cy="528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6000096" y="764320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437993" y="8344834"/>
            <a:ext cx="3755525" cy="516120"/>
            <a:chOff x="0" y="0"/>
            <a:chExt cx="5434787" cy="746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4"/>
              <a:stretch>
                <a:fillRect l="0" t="-56" r="0" b="-57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94931" y="8454454"/>
            <a:ext cx="400181" cy="396671"/>
            <a:chOff x="0" y="0"/>
            <a:chExt cx="579120" cy="574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486155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895112" y="8454454"/>
            <a:ext cx="400181" cy="396671"/>
            <a:chOff x="0" y="0"/>
            <a:chExt cx="579120" cy="574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886336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2312143" y="8454454"/>
            <a:ext cx="400181" cy="396671"/>
            <a:chOff x="0" y="0"/>
            <a:chExt cx="579120" cy="574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2303367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2727068" y="8454454"/>
            <a:ext cx="400181" cy="396671"/>
            <a:chOff x="0" y="0"/>
            <a:chExt cx="579120" cy="574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2718292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3127249" y="8454454"/>
            <a:ext cx="400181" cy="396671"/>
            <a:chOff x="0" y="0"/>
            <a:chExt cx="579120" cy="574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3118473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3527430" y="8454454"/>
            <a:ext cx="400181" cy="396671"/>
            <a:chOff x="0" y="0"/>
            <a:chExt cx="579120" cy="574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3518654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3931824" y="8454454"/>
            <a:ext cx="400181" cy="396671"/>
            <a:chOff x="0" y="0"/>
            <a:chExt cx="579120" cy="574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3923048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344642" y="8454454"/>
            <a:ext cx="400181" cy="396671"/>
            <a:chOff x="0" y="0"/>
            <a:chExt cx="579120" cy="574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4335866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4742717" y="8454454"/>
            <a:ext cx="400181" cy="396671"/>
            <a:chOff x="0" y="0"/>
            <a:chExt cx="579120" cy="574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61" id="61"/>
          <p:cNvSpPr/>
          <p:nvPr/>
        </p:nvSpPr>
        <p:spPr>
          <a:xfrm flipH="false" flipV="false" rot="0">
            <a:off x="4733941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5913996" y="4606378"/>
            <a:ext cx="516120" cy="3435266"/>
            <a:chOff x="0" y="0"/>
            <a:chExt cx="746900" cy="497132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5"/>
              <a:stretch>
                <a:fillRect l="-164" t="0" r="-164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6008872" y="4683623"/>
            <a:ext cx="396671" cy="365078"/>
            <a:chOff x="0" y="0"/>
            <a:chExt cx="574040" cy="5283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6008872" y="4692399"/>
            <a:ext cx="396671" cy="365078"/>
            <a:chOff x="0" y="0"/>
            <a:chExt cx="574040" cy="5283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6008872" y="5047999"/>
            <a:ext cx="396671" cy="362445"/>
            <a:chOff x="0" y="0"/>
            <a:chExt cx="574040" cy="52451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16000096" y="5041856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6"/>
                </a:lnTo>
                <a:lnTo>
                  <a:pt x="0" y="379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6008872" y="5444670"/>
            <a:ext cx="396671" cy="365078"/>
            <a:chOff x="0" y="0"/>
            <a:chExt cx="574040" cy="5283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6000096" y="543589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6008872" y="5821683"/>
            <a:ext cx="396671" cy="362445"/>
            <a:chOff x="0" y="0"/>
            <a:chExt cx="574040" cy="52451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6000096" y="5812907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6"/>
                </a:lnTo>
                <a:lnTo>
                  <a:pt x="0" y="3799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6008872" y="6183952"/>
            <a:ext cx="396671" cy="365078"/>
            <a:chOff x="0" y="0"/>
            <a:chExt cx="574040" cy="5283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6000096" y="6175176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6008872" y="6548328"/>
            <a:ext cx="396671" cy="365078"/>
            <a:chOff x="0" y="0"/>
            <a:chExt cx="574040" cy="528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6000096" y="6539552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16008872" y="6914809"/>
            <a:ext cx="396671" cy="365078"/>
            <a:chOff x="0" y="0"/>
            <a:chExt cx="574040" cy="5283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16000096" y="6906033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6008872" y="7291822"/>
            <a:ext cx="396671" cy="365078"/>
            <a:chOff x="0" y="0"/>
            <a:chExt cx="574040" cy="5283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16000096" y="7283046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6008872" y="7651985"/>
            <a:ext cx="396671" cy="365078"/>
            <a:chOff x="0" y="0"/>
            <a:chExt cx="574040" cy="5283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91" id="91"/>
          <p:cNvSpPr/>
          <p:nvPr/>
        </p:nvSpPr>
        <p:spPr>
          <a:xfrm flipH="false" flipV="false" rot="0">
            <a:off x="16000096" y="764320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1437993" y="8344834"/>
            <a:ext cx="3755525" cy="516120"/>
            <a:chOff x="0" y="0"/>
            <a:chExt cx="5434787" cy="7469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4"/>
              <a:stretch>
                <a:fillRect l="0" t="-56" r="0" b="-57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494931" y="8454454"/>
            <a:ext cx="400181" cy="396671"/>
            <a:chOff x="0" y="0"/>
            <a:chExt cx="579120" cy="5740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1486155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1895112" y="8454454"/>
            <a:ext cx="400181" cy="396671"/>
            <a:chOff x="0" y="0"/>
            <a:chExt cx="579120" cy="574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1886336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2312143" y="8454454"/>
            <a:ext cx="400181" cy="396671"/>
            <a:chOff x="0" y="0"/>
            <a:chExt cx="579120" cy="5740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102" id="102"/>
          <p:cNvSpPr/>
          <p:nvPr/>
        </p:nvSpPr>
        <p:spPr>
          <a:xfrm flipH="false" flipV="false" rot="0">
            <a:off x="2303367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2727068" y="8454454"/>
            <a:ext cx="400181" cy="396671"/>
            <a:chOff x="0" y="0"/>
            <a:chExt cx="579120" cy="5740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05" id="105"/>
          <p:cNvSpPr/>
          <p:nvPr/>
        </p:nvSpPr>
        <p:spPr>
          <a:xfrm flipH="false" flipV="false" rot="0">
            <a:off x="2718292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3127249" y="8454454"/>
            <a:ext cx="400181" cy="396671"/>
            <a:chOff x="0" y="0"/>
            <a:chExt cx="579120" cy="5740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3118473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3527430" y="8454454"/>
            <a:ext cx="400181" cy="396671"/>
            <a:chOff x="0" y="0"/>
            <a:chExt cx="579120" cy="5740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3518654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3931824" y="8454454"/>
            <a:ext cx="400181" cy="396671"/>
            <a:chOff x="0" y="0"/>
            <a:chExt cx="579120" cy="5740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114" id="114"/>
          <p:cNvSpPr/>
          <p:nvPr/>
        </p:nvSpPr>
        <p:spPr>
          <a:xfrm flipH="false" flipV="false" rot="0">
            <a:off x="3923048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4344642" y="8454454"/>
            <a:ext cx="400181" cy="396671"/>
            <a:chOff x="0" y="0"/>
            <a:chExt cx="579120" cy="5740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4335866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4742717" y="8454454"/>
            <a:ext cx="400181" cy="396671"/>
            <a:chOff x="0" y="0"/>
            <a:chExt cx="579120" cy="5740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120" id="120"/>
          <p:cNvSpPr/>
          <p:nvPr/>
        </p:nvSpPr>
        <p:spPr>
          <a:xfrm flipH="false" flipV="false" rot="0">
            <a:off x="4733941" y="8445678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1" id="121"/>
          <p:cNvGrpSpPr/>
          <p:nvPr/>
        </p:nvGrpSpPr>
        <p:grpSpPr>
          <a:xfrm rot="0">
            <a:off x="12630500" y="8277532"/>
            <a:ext cx="2719126" cy="905673"/>
            <a:chOff x="0" y="0"/>
            <a:chExt cx="3934968" cy="13106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934968" cy="1310640"/>
            </a:xfrm>
            <a:custGeom>
              <a:avLst/>
              <a:gdLst/>
              <a:ahLst/>
              <a:cxnLst/>
              <a:rect r="r" b="b" t="t" l="l"/>
              <a:pathLst>
                <a:path h="1310640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close/>
                </a:path>
              </a:pathLst>
            </a:custGeom>
            <a:blipFill>
              <a:blip r:embed="rId43"/>
              <a:stretch>
                <a:fillRect l="0" t="-38" r="0" b="-38"/>
              </a:stretch>
            </a:blipFill>
          </p:spPr>
        </p:sp>
      </p:grpSp>
      <p:graphicFrame>
        <p:nvGraphicFramePr>
          <p:cNvPr name="Table 123" id="123"/>
          <p:cNvGraphicFramePr>
            <a:graphicFrameLocks noGrp="true"/>
          </p:cNvGraphicFramePr>
          <p:nvPr/>
        </p:nvGraphicFramePr>
        <p:xfrm>
          <a:off x="591272" y="1342839"/>
          <a:ext cx="16340215" cy="7901308"/>
        </p:xfrm>
        <a:graphic>
          <a:graphicData uri="http://schemas.openxmlformats.org/drawingml/2006/table">
            <a:tbl>
              <a:tblPr/>
              <a:tblGrid>
                <a:gridCol w="1102076"/>
                <a:gridCol w="3906311"/>
                <a:gridCol w="1225603"/>
                <a:gridCol w="2097684"/>
                <a:gridCol w="2645270"/>
                <a:gridCol w="2702850"/>
                <a:gridCol w="2660420"/>
              </a:tblGrid>
              <a:tr h="1148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</a:tr>
              <a:tr h="1463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name="TextBox 124" id="124"/>
          <p:cNvSpPr txBox="true"/>
          <p:nvPr/>
        </p:nvSpPr>
        <p:spPr>
          <a:xfrm rot="0">
            <a:off x="650856" y="1617952"/>
            <a:ext cx="8786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S.NO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2295293" y="1617952"/>
            <a:ext cx="283928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of the Paper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9182525" y="1374247"/>
            <a:ext cx="208216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/Software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5812412" y="1722177"/>
            <a:ext cx="76164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Year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4799352" y="1654744"/>
            <a:ext cx="153769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Inference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019990" y="2567937"/>
            <a:ext cx="693037" cy="40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01984" y="4155954"/>
            <a:ext cx="693037" cy="40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975360" y="5278679"/>
            <a:ext cx="693037" cy="40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968363" y="6594356"/>
            <a:ext cx="693037" cy="40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001984" y="7962900"/>
            <a:ext cx="693037" cy="408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7143324" y="1654744"/>
            <a:ext cx="156567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783197" y="4144873"/>
            <a:ext cx="3612638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Ensemble Artificial Intelligence Framework for Real-Time Automatic Vehicle Detection and Classifications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5824357" y="4155954"/>
            <a:ext cx="734020" cy="8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MAY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6846807" y="6551390"/>
            <a:ext cx="2079993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3D object detection in fog using enhanced camera-LiDAR fusion.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4508394" y="6614421"/>
            <a:ext cx="2423093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3D perception, Virtual point clouds, Costly sensor fusion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861425" y="6670632"/>
            <a:ext cx="3534410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FogFusion: Robust 3D object detection based on camera-LiDAR fusion for autonomous driving in foggy weather conditions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5829141" y="6687109"/>
            <a:ext cx="698540" cy="8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6887698" y="7849330"/>
            <a:ext cx="2039102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 road visibility and driving risk under rain-fog conditions using roadside surveillance images.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4508394" y="7910717"/>
            <a:ext cx="1980074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Visibility estimation, Risk assessment, Infrastructure-based monitoring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4508394" y="5298745"/>
            <a:ext cx="2318244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Fog-aware feature enhancement, Real-time detection, Camera limitations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1909941" y="7991475"/>
            <a:ext cx="3485894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Visibility Recognition and Driving Risk Assessment Under Rain–Fog Conditions Using Monocular Surveillance Imagery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5872717" y="8008163"/>
            <a:ext cx="641033" cy="80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JAN 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6846807" y="2508751"/>
            <a:ext cx="2079993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obstacle detection in dense fog using adaptive multi-modal sensor fusion.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9006794" y="2508751"/>
            <a:ext cx="2455646" cy="13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  <a:r>
              <a:rPr lang="en-US" sz="1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Gated Camera, 3D LiDAR. 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 </a:t>
            </a:r>
            <a:r>
              <a:rPr lang="en-US" sz="1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AFW-Net, Attention-based Adaptive Fusion, Uncertainty Estimation, Cross-modal Feature Extraction.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4467389" y="2653662"/>
            <a:ext cx="2395016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sensor weighting, Reliable sensor fusion, Robust fog perception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783197" y="5297729"/>
            <a:ext cx="3612638" cy="726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9"/>
              </a:lnSpc>
              <a:spcBef>
                <a:spcPct val="0"/>
              </a:spcBef>
            </a:pPr>
            <a:r>
              <a:rPr lang="en-US" b="true" sz="1385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FogGate-YOLO: Traffic Object Detection in Foggy Environments Using Channel Selection Mechanisms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5793065" y="5278679"/>
            <a:ext cx="770692" cy="80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 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 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6887698" y="3981942"/>
            <a:ext cx="2042983" cy="1240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ensemble AI framework for accurate vehicle detection and classification under adverse weather.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6887698" y="5255393"/>
            <a:ext cx="2039102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lightweight object detector specifically optimized for foggy environments.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1833040" y="2548756"/>
            <a:ext cx="2157022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82% AP at 50 m visibility, improving detection by 23.7% over conventional RGB-LiDAR fusion.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4508394" y="3981942"/>
            <a:ext cx="2119608" cy="74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learning, High detection accuracy, Vision-dependent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909941" y="2581147"/>
            <a:ext cx="3485894" cy="74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b="true" sz="1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Sensor Fusion for Robust Perception in Dense Fog: A Gated Vision and LiDAR Integration Framework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5788278" y="2552572"/>
            <a:ext cx="837009" cy="808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JUNE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2170923" y="1535592"/>
            <a:ext cx="14812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Outcome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9022827" y="3911054"/>
            <a:ext cx="2455646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</a:pPr>
            <a:r>
              <a:rPr lang="en-US" sz="12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</a:t>
            </a:r>
            <a:r>
              <a:rPr lang="en-US" sz="1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RGB Camera. </a:t>
            </a:r>
          </a:p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</a:t>
            </a:r>
            <a:r>
              <a:rPr lang="en-US" sz="1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YOLOv5, YOLOv7, YOLOv8, YOLOv10, DETR-ResNet50, Faster R-CNN, Dynamic Weighting, NMS, Ensemble Learning.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9022827" y="5317579"/>
            <a:ext cx="2455646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  <a:r>
              <a:rPr lang="en-US" sz="12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RGB Camera. 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2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</a:t>
            </a:r>
            <a:r>
              <a:rPr lang="en-US" sz="12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YOLOv12, A2C2f-FSA Module, Bidirectional Feature Fusion Module (BFFM), GSConv, F-WIoU v3 Loss.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8990760" y="6574564"/>
            <a:ext cx="2487713" cy="110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0"/>
              </a:lnSpc>
              <a:spcBef>
                <a:spcPct val="0"/>
              </a:spcBef>
            </a:pPr>
            <a:r>
              <a:rPr lang="en-US" b="true" sz="12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  <a:r>
              <a:rPr lang="en-US" sz="1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RGB Camera, LiDAR. </a:t>
            </a:r>
            <a:r>
              <a:rPr lang="en-US" b="true" sz="125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</a:t>
            </a:r>
            <a:r>
              <a:rPr lang="en-US" sz="12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Depth Completion Network with Fog Convolution (DCFC), Flexible Cylindrical Voxel (FCV), Cylindrical Fusion Module (CFM).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8974392" y="7863802"/>
            <a:ext cx="2504081" cy="1320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9"/>
              </a:lnSpc>
            </a:pPr>
            <a:r>
              <a:rPr lang="en-US" sz="124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  <a:r>
              <a:rPr lang="en-US" sz="12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Monocular CCTV Camera. </a:t>
            </a:r>
          </a:p>
          <a:p>
            <a:pPr algn="l">
              <a:lnSpc>
                <a:spcPts val="1749"/>
              </a:lnSpc>
              <a:spcBef>
                <a:spcPct val="0"/>
              </a:spcBef>
            </a:pPr>
            <a:r>
              <a:rPr lang="en-US" b="true" sz="124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</a:t>
            </a:r>
            <a:r>
              <a:rPr lang="en-US" sz="12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Koschmieder Scattering Model, Dark Channel Prior, Monte Carlo Simulation, Low Visibility Risk Field Force (LVRFF).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1833040" y="3981942"/>
            <a:ext cx="2157022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96.6% mAP, 94.2% Precision, and 94.1% F1-score for multi-class vehicle detection.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1833040" y="5255393"/>
            <a:ext cx="2157022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mAP@0.5 by 5.2% (RTTS) and 7.3% (VOC-FOG) while maintaining real-time inference.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11979607" y="6622931"/>
            <a:ext cx="1863890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detection performance by ≥3.32% over baseline methods on KITTI-C.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11833040" y="7910717"/>
            <a:ext cx="2157022" cy="993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&gt;86% visibility estimation accuracy and effectively identified high-risk driving zones.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5678965" y="260993"/>
            <a:ext cx="5976461" cy="61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3980" spc="218">
                <a:solidFill>
                  <a:srgbClr val="E1E3E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LITERATURE SURVEY</a:t>
            </a:r>
            <a:r>
              <a:rPr lang="en-US" b="true" sz="3980" spc="218">
                <a:solidFill>
                  <a:srgbClr val="E1E3E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92" y="1434732"/>
            <a:ext cx="950986" cy="373170"/>
          </a:xfrm>
          <a:custGeom>
            <a:avLst/>
            <a:gdLst/>
            <a:ahLst/>
            <a:cxnLst/>
            <a:rect r="r" b="b" t="t" l="l"/>
            <a:pathLst>
              <a:path h="373170" w="950986">
                <a:moveTo>
                  <a:pt x="0" y="0"/>
                </a:moveTo>
                <a:lnTo>
                  <a:pt x="950986" y="0"/>
                </a:lnTo>
                <a:lnTo>
                  <a:pt x="950986" y="373170"/>
                </a:lnTo>
                <a:lnTo>
                  <a:pt x="0" y="3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67" r="0" b="-9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6276" y="425872"/>
            <a:ext cx="16706755" cy="1765744"/>
            <a:chOff x="0" y="0"/>
            <a:chExt cx="22275673" cy="23543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975360" y="1425207"/>
            <a:ext cx="15499080" cy="7300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7692" indent="-308846" lvl="1">
              <a:lnSpc>
                <a:spcPts val="3398"/>
              </a:lnSpc>
              <a:buFont typeface="Arial"/>
              <a:buChar char="•"/>
            </a:pPr>
            <a:r>
              <a:rPr lang="en-US" sz="28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detect approaching vehicles before their headlights become visible by sensing the low-frequency pressure waves they push ahead of them, using a MEMS sensor.</a:t>
            </a:r>
          </a:p>
          <a:p>
            <a:pPr algn="l">
              <a:lnSpc>
                <a:spcPts val="3398"/>
              </a:lnSpc>
            </a:pPr>
          </a:p>
          <a:p>
            <a:pPr algn="l" marL="617692" indent="-308846" lvl="1">
              <a:lnSpc>
                <a:spcPts val="3398"/>
              </a:lnSpc>
              <a:buFont typeface="Arial"/>
              <a:buChar char="•"/>
            </a:pPr>
            <a:r>
              <a:rPr lang="en-US" sz="28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condition the sensor signal (amplification and band-pass filtering with an LM358 op-amp) so that only the vehicle-related frequencies remain.</a:t>
            </a:r>
          </a:p>
          <a:p>
            <a:pPr algn="l">
              <a:lnSpc>
                <a:spcPts val="3398"/>
              </a:lnSpc>
            </a:pPr>
          </a:p>
          <a:p>
            <a:pPr algn="l" marL="617692" indent="-308846" lvl="1">
              <a:lnSpc>
                <a:spcPts val="3398"/>
              </a:lnSpc>
              <a:buFont typeface="Arial"/>
              <a:buChar char="•"/>
            </a:pPr>
            <a:r>
              <a:rPr lang="en-US" sz="28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acquire the signal through the ADC of a Cortex-M microcontroller and clean it with digital filtering (moving average).</a:t>
            </a:r>
          </a:p>
          <a:p>
            <a:pPr algn="l">
              <a:lnSpc>
                <a:spcPts val="3398"/>
              </a:lnSpc>
            </a:pPr>
          </a:p>
          <a:p>
            <a:pPr algn="l" marL="617692" indent="-308846" lvl="1">
              <a:lnSpc>
                <a:spcPts val="3398"/>
              </a:lnSpc>
              <a:buFont typeface="Arial"/>
              <a:buChar char="•"/>
            </a:pPr>
            <a:r>
              <a:rPr lang="en-US" sz="28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warn the driver with immediate visual alerts (LEDs, LCD/OLED display) and an audible alert (buzzer) before the vehicle becomes visible.</a:t>
            </a:r>
          </a:p>
          <a:p>
            <a:pPr algn="l">
              <a:lnSpc>
                <a:spcPts val="3398"/>
              </a:lnSpc>
            </a:pPr>
          </a:p>
          <a:p>
            <a:pPr algn="l" marL="617692" indent="-308846" lvl="1">
              <a:lnSpc>
                <a:spcPts val="3398"/>
              </a:lnSpc>
              <a:buFont typeface="Arial"/>
              <a:buChar char="•"/>
            </a:pPr>
            <a:r>
              <a:rPr lang="en-US" sz="28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collect data from live moving vehicles, then test, calibrate and optimise the system for reliable detection.</a:t>
            </a:r>
          </a:p>
          <a:p>
            <a:pPr algn="l">
              <a:lnSpc>
                <a:spcPts val="3398"/>
              </a:lnSpc>
            </a:pPr>
          </a:p>
          <a:p>
            <a:pPr algn="l" marL="617692" indent="-308846" lvl="1">
              <a:lnSpc>
                <a:spcPts val="3398"/>
              </a:lnSpc>
              <a:buFont typeface="Arial"/>
              <a:buChar char="•"/>
            </a:pPr>
            <a:r>
              <a:rPr lang="en-US" sz="286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build a complete working prototype and evaluate its performance, aiming to improve road safety in low-visibility conditions.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11710" y="362301"/>
            <a:ext cx="3426381" cy="61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3980" spc="218">
                <a:solidFill>
                  <a:srgbClr val="E1E3E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92" y="1434732"/>
            <a:ext cx="950986" cy="373170"/>
          </a:xfrm>
          <a:custGeom>
            <a:avLst/>
            <a:gdLst/>
            <a:ahLst/>
            <a:cxnLst/>
            <a:rect r="r" b="b" t="t" l="l"/>
            <a:pathLst>
              <a:path h="373170" w="950986">
                <a:moveTo>
                  <a:pt x="0" y="0"/>
                </a:moveTo>
                <a:lnTo>
                  <a:pt x="950986" y="0"/>
                </a:lnTo>
                <a:lnTo>
                  <a:pt x="950986" y="373170"/>
                </a:lnTo>
                <a:lnTo>
                  <a:pt x="0" y="3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67" r="0" b="-9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6276" y="425872"/>
            <a:ext cx="16706755" cy="1765744"/>
            <a:chOff x="0" y="0"/>
            <a:chExt cx="22275673" cy="23543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3717474" cy="3654257"/>
            <a:chOff x="0" y="0"/>
            <a:chExt cx="4956632" cy="48723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56683" cy="4872355"/>
            </a:xfrm>
            <a:custGeom>
              <a:avLst/>
              <a:gdLst/>
              <a:ahLst/>
              <a:cxnLst/>
              <a:rect r="r" b="b" t="t" l="l"/>
              <a:pathLst>
                <a:path h="4872355" w="4956683">
                  <a:moveTo>
                    <a:pt x="0" y="0"/>
                  </a:moveTo>
                  <a:lnTo>
                    <a:pt x="4956683" y="0"/>
                  </a:lnTo>
                  <a:lnTo>
                    <a:pt x="4956683" y="4872355"/>
                  </a:lnTo>
                  <a:lnTo>
                    <a:pt x="0" y="4872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4" t="0" r="-34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95468" y="5006292"/>
            <a:ext cx="2078869" cy="1828800"/>
            <a:chOff x="0" y="0"/>
            <a:chExt cx="2771826" cy="243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1775" cy="2438400"/>
            </a:xfrm>
            <a:custGeom>
              <a:avLst/>
              <a:gdLst/>
              <a:ahLst/>
              <a:cxnLst/>
              <a:rect r="r" b="b" t="t" l="l"/>
              <a:pathLst>
                <a:path h="2438400" w="2771775">
                  <a:moveTo>
                    <a:pt x="0" y="0"/>
                  </a:moveTo>
                  <a:lnTo>
                    <a:pt x="2771775" y="0"/>
                  </a:lnTo>
                  <a:lnTo>
                    <a:pt x="2771775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0" t="0" r="-40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738183" y="4876800"/>
            <a:ext cx="2078869" cy="1828800"/>
            <a:chOff x="0" y="0"/>
            <a:chExt cx="2771826" cy="2438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71775" cy="2438400"/>
            </a:xfrm>
            <a:custGeom>
              <a:avLst/>
              <a:gdLst/>
              <a:ahLst/>
              <a:cxnLst/>
              <a:rect r="r" b="b" t="t" l="l"/>
              <a:pathLst>
                <a:path h="2438400" w="2771775">
                  <a:moveTo>
                    <a:pt x="0" y="0"/>
                  </a:moveTo>
                  <a:lnTo>
                    <a:pt x="2771775" y="0"/>
                  </a:lnTo>
                  <a:lnTo>
                    <a:pt x="2771775" y="2438400"/>
                  </a:lnTo>
                  <a:lnTo>
                    <a:pt x="0" y="243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0" t="0" r="-40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15446" y="3695643"/>
            <a:ext cx="5380825" cy="4469044"/>
            <a:chOff x="0" y="0"/>
            <a:chExt cx="7174433" cy="59587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74484" cy="5958713"/>
            </a:xfrm>
            <a:custGeom>
              <a:avLst/>
              <a:gdLst/>
              <a:ahLst/>
              <a:cxnLst/>
              <a:rect r="r" b="b" t="t" l="l"/>
              <a:pathLst>
                <a:path h="5958713" w="7174484">
                  <a:moveTo>
                    <a:pt x="0" y="0"/>
                  </a:moveTo>
                  <a:lnTo>
                    <a:pt x="7174484" y="0"/>
                  </a:lnTo>
                  <a:lnTo>
                    <a:pt x="7174484" y="5958713"/>
                  </a:lnTo>
                  <a:lnTo>
                    <a:pt x="0" y="5958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75" t="0" r="-375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947829" y="3609918"/>
            <a:ext cx="5380825" cy="4469044"/>
            <a:chOff x="0" y="0"/>
            <a:chExt cx="7174433" cy="59587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74484" cy="5958713"/>
            </a:xfrm>
            <a:custGeom>
              <a:avLst/>
              <a:gdLst/>
              <a:ahLst/>
              <a:cxnLst/>
              <a:rect r="r" b="b" t="t" l="l"/>
              <a:pathLst>
                <a:path h="5958713" w="7174484">
                  <a:moveTo>
                    <a:pt x="0" y="0"/>
                  </a:moveTo>
                  <a:lnTo>
                    <a:pt x="7174484" y="0"/>
                  </a:lnTo>
                  <a:lnTo>
                    <a:pt x="7174484" y="5958713"/>
                  </a:lnTo>
                  <a:lnTo>
                    <a:pt x="0" y="5958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75" t="0" r="-375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6704028" y="2823772"/>
            <a:ext cx="3931691" cy="1016003"/>
            <a:chOff x="0" y="0"/>
            <a:chExt cx="5242255" cy="13546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42306" cy="1354709"/>
            </a:xfrm>
            <a:custGeom>
              <a:avLst/>
              <a:gdLst/>
              <a:ahLst/>
              <a:cxnLst/>
              <a:rect r="r" b="b" t="t" l="l"/>
              <a:pathLst>
                <a:path h="1354709" w="5242306">
                  <a:moveTo>
                    <a:pt x="0" y="0"/>
                  </a:moveTo>
                  <a:lnTo>
                    <a:pt x="5242306" y="0"/>
                  </a:lnTo>
                  <a:lnTo>
                    <a:pt x="5242306" y="1354709"/>
                  </a:lnTo>
                  <a:lnTo>
                    <a:pt x="0" y="1354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90" t="0" r="-389" b="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790570" y="0"/>
            <a:ext cx="4545721" cy="3454403"/>
            <a:chOff x="0" y="0"/>
            <a:chExt cx="6060961" cy="46058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60948" cy="4605909"/>
            </a:xfrm>
            <a:custGeom>
              <a:avLst/>
              <a:gdLst/>
              <a:ahLst/>
              <a:cxnLst/>
              <a:rect r="r" b="b" t="t" l="l"/>
              <a:pathLst>
                <a:path h="4605909" w="6060948">
                  <a:moveTo>
                    <a:pt x="0" y="0"/>
                  </a:moveTo>
                  <a:lnTo>
                    <a:pt x="6060948" y="0"/>
                  </a:lnTo>
                  <a:lnTo>
                    <a:pt x="6060948" y="4605909"/>
                  </a:lnTo>
                  <a:lnTo>
                    <a:pt x="0" y="4605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8" t="0" r="-428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75827" y="2883075"/>
            <a:ext cx="3931691" cy="1016003"/>
            <a:chOff x="0" y="0"/>
            <a:chExt cx="5242255" cy="13546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42306" cy="1354709"/>
            </a:xfrm>
            <a:custGeom>
              <a:avLst/>
              <a:gdLst/>
              <a:ahLst/>
              <a:cxnLst/>
              <a:rect r="r" b="b" t="t" l="l"/>
              <a:pathLst>
                <a:path h="1354709" w="5242306">
                  <a:moveTo>
                    <a:pt x="0" y="0"/>
                  </a:moveTo>
                  <a:lnTo>
                    <a:pt x="5242306" y="0"/>
                  </a:lnTo>
                  <a:lnTo>
                    <a:pt x="5242306" y="1354709"/>
                  </a:lnTo>
                  <a:lnTo>
                    <a:pt x="0" y="1354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90" t="0" r="-389" b="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0" y="6096000"/>
            <a:ext cx="3314233" cy="3657333"/>
            <a:chOff x="0" y="0"/>
            <a:chExt cx="4418978" cy="48764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18965" cy="4876419"/>
            </a:xfrm>
            <a:custGeom>
              <a:avLst/>
              <a:gdLst/>
              <a:ahLst/>
              <a:cxnLst/>
              <a:rect r="r" b="b" t="t" l="l"/>
              <a:pathLst>
                <a:path h="4876419" w="4418965">
                  <a:moveTo>
                    <a:pt x="0" y="0"/>
                  </a:moveTo>
                  <a:lnTo>
                    <a:pt x="4418965" y="0"/>
                  </a:lnTo>
                  <a:lnTo>
                    <a:pt x="4418965" y="4876419"/>
                  </a:lnTo>
                  <a:lnTo>
                    <a:pt x="0" y="48764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86" t="0" r="-38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239751" y="6908797"/>
            <a:ext cx="3100016" cy="2844803"/>
            <a:chOff x="0" y="0"/>
            <a:chExt cx="4133355" cy="3793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33342" cy="3793109"/>
            </a:xfrm>
            <a:custGeom>
              <a:avLst/>
              <a:gdLst/>
              <a:ahLst/>
              <a:cxnLst/>
              <a:rect r="r" b="b" t="t" l="l"/>
              <a:pathLst>
                <a:path h="3793109" w="4133342">
                  <a:moveTo>
                    <a:pt x="0" y="0"/>
                  </a:moveTo>
                  <a:lnTo>
                    <a:pt x="4133342" y="0"/>
                  </a:lnTo>
                  <a:lnTo>
                    <a:pt x="4133342" y="3793109"/>
                  </a:lnTo>
                  <a:lnTo>
                    <a:pt x="0" y="3793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89" t="0" r="-390" b="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954" y="2844803"/>
            <a:ext cx="3931691" cy="1016003"/>
            <a:chOff x="0" y="0"/>
            <a:chExt cx="5242255" cy="13546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42306" cy="1354709"/>
            </a:xfrm>
            <a:custGeom>
              <a:avLst/>
              <a:gdLst/>
              <a:ahLst/>
              <a:cxnLst/>
              <a:rect r="r" b="b" t="t" l="l"/>
              <a:pathLst>
                <a:path h="1354709" w="5242306">
                  <a:moveTo>
                    <a:pt x="0" y="0"/>
                  </a:moveTo>
                  <a:lnTo>
                    <a:pt x="5242306" y="0"/>
                  </a:lnTo>
                  <a:lnTo>
                    <a:pt x="5242306" y="1354709"/>
                  </a:lnTo>
                  <a:lnTo>
                    <a:pt x="0" y="1354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90" t="0" r="-389" b="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03250" y="3657600"/>
            <a:ext cx="5380825" cy="4469044"/>
            <a:chOff x="0" y="0"/>
            <a:chExt cx="7174433" cy="59587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174484" cy="5958713"/>
            </a:xfrm>
            <a:custGeom>
              <a:avLst/>
              <a:gdLst/>
              <a:ahLst/>
              <a:cxnLst/>
              <a:rect r="r" b="b" t="t" l="l"/>
              <a:pathLst>
                <a:path h="5958713" w="7174484">
                  <a:moveTo>
                    <a:pt x="0" y="0"/>
                  </a:moveTo>
                  <a:lnTo>
                    <a:pt x="7174484" y="0"/>
                  </a:lnTo>
                  <a:lnTo>
                    <a:pt x="7174484" y="5958713"/>
                  </a:lnTo>
                  <a:lnTo>
                    <a:pt x="0" y="5958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75" t="0" r="-375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79719" y="5892803"/>
            <a:ext cx="1045893" cy="406403"/>
            <a:chOff x="0" y="0"/>
            <a:chExt cx="1394524" cy="5418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94587" cy="541909"/>
            </a:xfrm>
            <a:custGeom>
              <a:avLst/>
              <a:gdLst/>
              <a:ahLst/>
              <a:cxnLst/>
              <a:rect r="r" b="b" t="t" l="l"/>
              <a:pathLst>
                <a:path h="541909" w="1394587">
                  <a:moveTo>
                    <a:pt x="0" y="0"/>
                  </a:moveTo>
                  <a:lnTo>
                    <a:pt x="1394587" y="0"/>
                  </a:lnTo>
                  <a:lnTo>
                    <a:pt x="1394587" y="541909"/>
                  </a:lnTo>
                  <a:lnTo>
                    <a:pt x="0" y="541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92" t="0" r="-387" b="7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225650" y="5892803"/>
            <a:ext cx="2280895" cy="406403"/>
            <a:chOff x="0" y="0"/>
            <a:chExt cx="3041193" cy="5418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41142" cy="541909"/>
            </a:xfrm>
            <a:custGeom>
              <a:avLst/>
              <a:gdLst/>
              <a:ahLst/>
              <a:cxnLst/>
              <a:rect r="r" b="b" t="t" l="l"/>
              <a:pathLst>
                <a:path h="541909" w="3041142">
                  <a:moveTo>
                    <a:pt x="0" y="0"/>
                  </a:moveTo>
                  <a:lnTo>
                    <a:pt x="3041142" y="0"/>
                  </a:lnTo>
                  <a:lnTo>
                    <a:pt x="3041142" y="541909"/>
                  </a:lnTo>
                  <a:lnTo>
                    <a:pt x="0" y="5419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390" t="0" r="-391" b="7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73102" y="6502403"/>
            <a:ext cx="831675" cy="812797"/>
            <a:chOff x="0" y="0"/>
            <a:chExt cx="1108900" cy="108372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8837" cy="1083691"/>
            </a:xfrm>
            <a:custGeom>
              <a:avLst/>
              <a:gdLst/>
              <a:ahLst/>
              <a:cxnLst/>
              <a:rect r="r" b="b" t="t" l="l"/>
              <a:pathLst>
                <a:path h="1083691" w="1108837">
                  <a:moveTo>
                    <a:pt x="0" y="0"/>
                  </a:moveTo>
                  <a:lnTo>
                    <a:pt x="1108837" y="0"/>
                  </a:lnTo>
                  <a:lnTo>
                    <a:pt x="1108837" y="1083691"/>
                  </a:lnTo>
                  <a:lnTo>
                    <a:pt x="0" y="10836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392" t="0" r="-397" b="-3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343033" y="2784586"/>
            <a:ext cx="5501278" cy="5403609"/>
          </a:xfrm>
          <a:custGeom>
            <a:avLst/>
            <a:gdLst/>
            <a:ahLst/>
            <a:cxnLst/>
            <a:rect r="r" b="b" t="t" l="l"/>
            <a:pathLst>
              <a:path h="5403609" w="5501278">
                <a:moveTo>
                  <a:pt x="0" y="0"/>
                </a:moveTo>
                <a:lnTo>
                  <a:pt x="5501278" y="0"/>
                </a:lnTo>
                <a:lnTo>
                  <a:pt x="5501278" y="5403609"/>
                </a:lnTo>
                <a:lnTo>
                  <a:pt x="0" y="54036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22" r="0" b="-23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804841" y="6677035"/>
            <a:ext cx="640613" cy="641204"/>
          </a:xfrm>
          <a:custGeom>
            <a:avLst/>
            <a:gdLst/>
            <a:ahLst/>
            <a:cxnLst/>
            <a:rect r="r" b="b" t="t" l="l"/>
            <a:pathLst>
              <a:path h="641204" w="640613">
                <a:moveTo>
                  <a:pt x="0" y="0"/>
                </a:moveTo>
                <a:lnTo>
                  <a:pt x="640613" y="0"/>
                </a:lnTo>
                <a:lnTo>
                  <a:pt x="640613" y="641203"/>
                </a:lnTo>
                <a:lnTo>
                  <a:pt x="0" y="64120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785886" y="5430164"/>
            <a:ext cx="702859" cy="665893"/>
          </a:xfrm>
          <a:custGeom>
            <a:avLst/>
            <a:gdLst/>
            <a:ahLst/>
            <a:cxnLst/>
            <a:rect r="r" b="b" t="t" l="l"/>
            <a:pathLst>
              <a:path h="665893" w="702859">
                <a:moveTo>
                  <a:pt x="0" y="0"/>
                </a:moveTo>
                <a:lnTo>
                  <a:pt x="702860" y="0"/>
                </a:lnTo>
                <a:lnTo>
                  <a:pt x="702860" y="665893"/>
                </a:lnTo>
                <a:lnTo>
                  <a:pt x="0" y="66589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714630" y="4085606"/>
            <a:ext cx="915152" cy="972798"/>
          </a:xfrm>
          <a:custGeom>
            <a:avLst/>
            <a:gdLst/>
            <a:ahLst/>
            <a:cxnLst/>
            <a:rect r="r" b="b" t="t" l="l"/>
            <a:pathLst>
              <a:path h="972798" w="915152">
                <a:moveTo>
                  <a:pt x="0" y="0"/>
                </a:moveTo>
                <a:lnTo>
                  <a:pt x="915152" y="0"/>
                </a:lnTo>
                <a:lnTo>
                  <a:pt x="915152" y="972798"/>
                </a:lnTo>
                <a:lnTo>
                  <a:pt x="0" y="97279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-53" t="0" r="-53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273601" y="4363002"/>
            <a:ext cx="632174" cy="564137"/>
          </a:xfrm>
          <a:custGeom>
            <a:avLst/>
            <a:gdLst/>
            <a:ahLst/>
            <a:cxnLst/>
            <a:rect r="r" b="b" t="t" l="l"/>
            <a:pathLst>
              <a:path h="564137" w="632174">
                <a:moveTo>
                  <a:pt x="0" y="0"/>
                </a:moveTo>
                <a:lnTo>
                  <a:pt x="632174" y="0"/>
                </a:lnTo>
                <a:lnTo>
                  <a:pt x="632174" y="564138"/>
                </a:lnTo>
                <a:lnTo>
                  <a:pt x="0" y="56413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2243730" y="5497992"/>
            <a:ext cx="659025" cy="659149"/>
          </a:xfrm>
          <a:custGeom>
            <a:avLst/>
            <a:gdLst/>
            <a:ahLst/>
            <a:cxnLst/>
            <a:rect r="r" b="b" t="t" l="l"/>
            <a:pathLst>
              <a:path h="659149" w="659025">
                <a:moveTo>
                  <a:pt x="0" y="0"/>
                </a:moveTo>
                <a:lnTo>
                  <a:pt x="659026" y="0"/>
                </a:lnTo>
                <a:lnTo>
                  <a:pt x="659026" y="659149"/>
                </a:lnTo>
                <a:lnTo>
                  <a:pt x="0" y="65914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4994815" y="48139"/>
            <a:ext cx="7285187" cy="95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6"/>
              </a:lnSpc>
            </a:pPr>
            <a:r>
              <a:rPr lang="en-US" sz="3981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Architecture &amp; Data Pipeline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356378" y="1536379"/>
            <a:ext cx="10737044" cy="46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2"/>
              </a:lnSpc>
            </a:pPr>
            <a:r>
              <a:rPr lang="en-US" sz="271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From physical pressure waves to real - time Edge-AI alerts.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96256" y="2591267"/>
            <a:ext cx="2569359" cy="1019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7"/>
              </a:lnSpc>
            </a:pPr>
            <a:r>
              <a:rPr lang="en-US" sz="2433" b="true">
                <a:solidFill>
                  <a:srgbClr val="6889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Zone 1</a:t>
            </a:r>
          </a:p>
          <a:p>
            <a:pPr algn="ctr">
              <a:lnSpc>
                <a:spcPts val="3277"/>
              </a:lnSpc>
            </a:pPr>
            <a:r>
              <a:rPr lang="en-US" sz="234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Physical Sensing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089000" y="2591267"/>
            <a:ext cx="3031341" cy="101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7"/>
              </a:lnSpc>
            </a:pPr>
            <a:r>
              <a:rPr lang="en-US" sz="2433" b="true">
                <a:solidFill>
                  <a:srgbClr val="00C2C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Zone 2</a:t>
            </a:r>
          </a:p>
          <a:p>
            <a:pPr algn="ctr">
              <a:lnSpc>
                <a:spcPts val="3344"/>
              </a:lnSpc>
            </a:pPr>
            <a:r>
              <a:rPr lang="en-US" sz="238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Edge-AI Processing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912614" y="2419817"/>
            <a:ext cx="2416302" cy="119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2433" b="true">
                <a:solidFill>
                  <a:srgbClr val="A67C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Zone 3</a:t>
            </a:r>
          </a:p>
          <a:p>
            <a:pPr algn="ctr">
              <a:lnSpc>
                <a:spcPts val="4376"/>
              </a:lnSpc>
            </a:pPr>
            <a:r>
              <a:rPr lang="en-US" sz="243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Alert Execution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661777" y="5583888"/>
            <a:ext cx="1924069" cy="506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215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6. Algorithmic Analysis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660691" y="4538186"/>
            <a:ext cx="2313908" cy="39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5. Digital Filtering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60854" y="6730165"/>
            <a:ext cx="1258795" cy="38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01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10. Result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160854" y="4360040"/>
            <a:ext cx="1984505" cy="385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7"/>
              </a:lnSpc>
            </a:pPr>
            <a:r>
              <a:rPr lang="en-US" sz="201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8. Confirmation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657102" y="4415018"/>
            <a:ext cx="2695918" cy="39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5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 Approaches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084594" y="5438204"/>
            <a:ext cx="2561768" cy="39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5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Acoustic Detection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651156" y="4109818"/>
            <a:ext cx="2477757" cy="39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5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4. Data Acquisition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594806" y="6752920"/>
            <a:ext cx="2868216" cy="39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5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7. Threshold Decision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60854" y="5543474"/>
            <a:ext cx="2165175" cy="39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58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9. Early Warning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119884" y="6720164"/>
            <a:ext cx="2644150" cy="39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7"/>
              </a:lnSpc>
            </a:pPr>
            <a:r>
              <a:rPr lang="en-US" sz="2106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Signal Conditioning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534725" y="8119986"/>
            <a:ext cx="14491125" cy="70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1"/>
              </a:lnSpc>
            </a:pPr>
            <a:r>
              <a:rPr lang="en-US" sz="210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Pressure Waves &gt; MEMS Sensor &gt; Signal Conditioning &gt; Cortex-M ADC &gt; Digital Filtering &gt; TinyML Analysis &gt; Vehicle Detection &gt; LED/LCD/Buzzer Alert &gt; Driver Safety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92" y="1434732"/>
            <a:ext cx="950986" cy="373170"/>
          </a:xfrm>
          <a:custGeom>
            <a:avLst/>
            <a:gdLst/>
            <a:ahLst/>
            <a:cxnLst/>
            <a:rect r="r" b="b" t="t" l="l"/>
            <a:pathLst>
              <a:path h="373170" w="950986">
                <a:moveTo>
                  <a:pt x="0" y="0"/>
                </a:moveTo>
                <a:lnTo>
                  <a:pt x="950986" y="0"/>
                </a:lnTo>
                <a:lnTo>
                  <a:pt x="950986" y="373170"/>
                </a:lnTo>
                <a:lnTo>
                  <a:pt x="0" y="3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67" r="0" b="-9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6276" y="425872"/>
            <a:ext cx="16706755" cy="1765744"/>
            <a:chOff x="0" y="0"/>
            <a:chExt cx="22275673" cy="23543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72553" y="1200739"/>
            <a:ext cx="14601032" cy="8552861"/>
          </a:xfrm>
          <a:custGeom>
            <a:avLst/>
            <a:gdLst/>
            <a:ahLst/>
            <a:cxnLst/>
            <a:rect r="r" b="b" t="t" l="l"/>
            <a:pathLst>
              <a:path h="8552861" w="14601032">
                <a:moveTo>
                  <a:pt x="0" y="0"/>
                </a:moveTo>
                <a:lnTo>
                  <a:pt x="14601032" y="0"/>
                </a:lnTo>
                <a:lnTo>
                  <a:pt x="14601032" y="8552861"/>
                </a:lnTo>
                <a:lnTo>
                  <a:pt x="0" y="8552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81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503491" y="362301"/>
            <a:ext cx="4442817" cy="613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3"/>
              </a:lnSpc>
            </a:pPr>
            <a:r>
              <a:rPr lang="en-US" b="true" sz="3980" spc="218">
                <a:solidFill>
                  <a:srgbClr val="E1E3E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92" y="1434732"/>
            <a:ext cx="950986" cy="373170"/>
          </a:xfrm>
          <a:custGeom>
            <a:avLst/>
            <a:gdLst/>
            <a:ahLst/>
            <a:cxnLst/>
            <a:rect r="r" b="b" t="t" l="l"/>
            <a:pathLst>
              <a:path h="373170" w="950986">
                <a:moveTo>
                  <a:pt x="0" y="0"/>
                </a:moveTo>
                <a:lnTo>
                  <a:pt x="950986" y="0"/>
                </a:lnTo>
                <a:lnTo>
                  <a:pt x="950986" y="373170"/>
                </a:lnTo>
                <a:lnTo>
                  <a:pt x="0" y="3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67" r="0" b="-9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01047" y="558441"/>
            <a:ext cx="16706755" cy="1765744"/>
            <a:chOff x="0" y="0"/>
            <a:chExt cx="22275673" cy="23543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27266" y="115414"/>
            <a:ext cx="16179155" cy="9638186"/>
          </a:xfrm>
          <a:custGeom>
            <a:avLst/>
            <a:gdLst/>
            <a:ahLst/>
            <a:cxnLst/>
            <a:rect r="r" b="b" t="t" l="l"/>
            <a:pathLst>
              <a:path h="9638186" w="16179155">
                <a:moveTo>
                  <a:pt x="0" y="0"/>
                </a:moveTo>
                <a:lnTo>
                  <a:pt x="16179156" y="0"/>
                </a:lnTo>
                <a:lnTo>
                  <a:pt x="16179156" y="9638186"/>
                </a:lnTo>
                <a:lnTo>
                  <a:pt x="0" y="96381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5" t="0" r="-3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8696" y="1322346"/>
            <a:ext cx="2191617" cy="57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433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&amp; Focus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85031" y="1322346"/>
            <a:ext cx="834438" cy="57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433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86158" y="1405633"/>
            <a:ext cx="3368021" cy="203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sz="2433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Core Activity</a:t>
            </a:r>
          </a:p>
          <a:p>
            <a:pPr algn="l">
              <a:lnSpc>
                <a:spcPts val="237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Literature Survey, Problem Analysis &amp; Component Procurement.STM32/Cortex-M setup and architecture learning.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52502" y="1322346"/>
            <a:ext cx="2183149" cy="57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433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Key Milestone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18696" y="5728611"/>
            <a:ext cx="3075565" cy="6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3: Edge-AI(Algorithm &amp; Alert)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18696" y="2445687"/>
            <a:ext cx="3392234" cy="6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1: Foundation(Research &amp; Hardware)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85031" y="2571112"/>
            <a:ext cx="942956" cy="37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9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 1-3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85031" y="5854027"/>
            <a:ext cx="1055141" cy="37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9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 7 - 9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18696" y="4087149"/>
            <a:ext cx="3538880" cy="6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2: Integration(Interfacing &amp; Data)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85031" y="4212574"/>
            <a:ext cx="1079659" cy="37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9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 4 - 6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18696" y="7370074"/>
            <a:ext cx="3524669" cy="67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Phase 4: Finalisation(Prototype &amp; Delivery)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5031" y="7495489"/>
            <a:ext cx="1312764" cy="37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9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Week 10 - 12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86158" y="3766518"/>
            <a:ext cx="3445326" cy="128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Sensor Interfacing &amp; ADC Testing.Data Collection from live moving vehicles.Initial Signal Processing Implementation.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86158" y="5256324"/>
            <a:ext cx="3154861" cy="157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5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Vehicle Detection Algorithm (TinyML) Development.LED, Buzzer, and Display Integration.System Testing, Calibration, and Optimisation.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86158" y="7049443"/>
            <a:ext cx="3324416" cy="1280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0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Complete Prototype Assembly.Result Analysis and Performance Evaluation.Report Writing and PPT Preparation.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52502" y="2425513"/>
            <a:ext cx="2283771" cy="68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Hardware Procured &amp; Environment Setup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52502" y="4066975"/>
            <a:ext cx="2491816" cy="68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Successful Sensor Data Acquisition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52502" y="5860085"/>
            <a:ext cx="3375908" cy="37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9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Functional Detection Algorithm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52502" y="7501547"/>
            <a:ext cx="3214145" cy="37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9"/>
              </a:lnSpc>
            </a:pPr>
            <a:r>
              <a:rPr lang="en-US" sz="1685">
                <a:solidFill>
                  <a:srgbClr val="FFFFFF"/>
                </a:solidFill>
                <a:latin typeface="CanvaSansSC-Regular"/>
                <a:ea typeface="CanvaSansSC-Regular"/>
                <a:cs typeface="CanvaSansSC-Regular"/>
                <a:sym typeface="CanvaSansSC-Regular"/>
              </a:rPr>
              <a:t>Final Demonstration (Sept 20)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8092" y="1434732"/>
            <a:ext cx="950986" cy="373170"/>
          </a:xfrm>
          <a:custGeom>
            <a:avLst/>
            <a:gdLst/>
            <a:ahLst/>
            <a:cxnLst/>
            <a:rect r="r" b="b" t="t" l="l"/>
            <a:pathLst>
              <a:path h="373170" w="950986">
                <a:moveTo>
                  <a:pt x="0" y="0"/>
                </a:moveTo>
                <a:lnTo>
                  <a:pt x="950986" y="0"/>
                </a:lnTo>
                <a:lnTo>
                  <a:pt x="950986" y="373170"/>
                </a:lnTo>
                <a:lnTo>
                  <a:pt x="0" y="3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67" r="0" b="-9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0109" y="563880"/>
            <a:ext cx="16479098" cy="1741684"/>
            <a:chOff x="0" y="0"/>
            <a:chExt cx="21972130" cy="232224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72143" cy="2322195"/>
            </a:xfrm>
            <a:custGeom>
              <a:avLst/>
              <a:gdLst/>
              <a:ahLst/>
              <a:cxnLst/>
              <a:rect r="r" b="b" t="t" l="l"/>
              <a:pathLst>
                <a:path h="2322195" w="21972143">
                  <a:moveTo>
                    <a:pt x="0" y="0"/>
                  </a:moveTo>
                  <a:lnTo>
                    <a:pt x="21972143" y="0"/>
                  </a:lnTo>
                  <a:lnTo>
                    <a:pt x="21972143" y="2322195"/>
                  </a:lnTo>
                  <a:lnTo>
                    <a:pt x="0" y="2322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66642" y="2989202"/>
            <a:ext cx="75790" cy="75790"/>
            <a:chOff x="0" y="0"/>
            <a:chExt cx="101054" cy="1010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66642" y="3276981"/>
            <a:ext cx="75790" cy="75790"/>
            <a:chOff x="0" y="0"/>
            <a:chExt cx="101054" cy="1010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66642" y="3852567"/>
            <a:ext cx="75790" cy="75790"/>
            <a:chOff x="0" y="0"/>
            <a:chExt cx="101054" cy="1010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66642" y="4140346"/>
            <a:ext cx="75790" cy="75790"/>
            <a:chOff x="0" y="0"/>
            <a:chExt cx="101054" cy="1010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66642" y="4715923"/>
            <a:ext cx="75790" cy="75790"/>
            <a:chOff x="0" y="0"/>
            <a:chExt cx="101054" cy="1010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66642" y="5003721"/>
            <a:ext cx="75790" cy="75790"/>
            <a:chOff x="0" y="0"/>
            <a:chExt cx="101054" cy="1010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0" y="7338279"/>
            <a:ext cx="1119616" cy="1710890"/>
          </a:xfrm>
          <a:custGeom>
            <a:avLst/>
            <a:gdLst/>
            <a:ahLst/>
            <a:cxnLst/>
            <a:rect r="r" b="b" t="t" l="l"/>
            <a:pathLst>
              <a:path h="1710890" w="1119616">
                <a:moveTo>
                  <a:pt x="0" y="0"/>
                </a:moveTo>
                <a:lnTo>
                  <a:pt x="1119616" y="0"/>
                </a:lnTo>
                <a:lnTo>
                  <a:pt x="1119616" y="1710890"/>
                </a:lnTo>
                <a:lnTo>
                  <a:pt x="0" y="171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89" r="0" b="-189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75887" y="798805"/>
            <a:ext cx="1374572" cy="1374572"/>
          </a:xfrm>
          <a:custGeom>
            <a:avLst/>
            <a:gdLst/>
            <a:ahLst/>
            <a:cxnLst/>
            <a:rect r="r" b="b" t="t" l="l"/>
            <a:pathLst>
              <a:path h="1374572" w="1374572">
                <a:moveTo>
                  <a:pt x="0" y="0"/>
                </a:moveTo>
                <a:lnTo>
                  <a:pt x="1374572" y="0"/>
                </a:lnTo>
                <a:lnTo>
                  <a:pt x="1374572" y="1374571"/>
                </a:lnTo>
                <a:lnTo>
                  <a:pt x="0" y="13745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888752" y="6461608"/>
            <a:ext cx="1635414" cy="1635414"/>
          </a:xfrm>
          <a:custGeom>
            <a:avLst/>
            <a:gdLst/>
            <a:ahLst/>
            <a:cxnLst/>
            <a:rect r="r" b="b" t="t" l="l"/>
            <a:pathLst>
              <a:path h="1635414" w="1635414">
                <a:moveTo>
                  <a:pt x="0" y="0"/>
                </a:moveTo>
                <a:lnTo>
                  <a:pt x="1635413" y="0"/>
                </a:lnTo>
                <a:lnTo>
                  <a:pt x="1635413" y="1635414"/>
                </a:lnTo>
                <a:lnTo>
                  <a:pt x="0" y="1635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667126" y="2989202"/>
            <a:ext cx="75790" cy="75790"/>
            <a:chOff x="0" y="0"/>
            <a:chExt cx="101054" cy="10105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667126" y="3276981"/>
            <a:ext cx="75790" cy="75790"/>
            <a:chOff x="0" y="0"/>
            <a:chExt cx="101054" cy="1010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667126" y="3564779"/>
            <a:ext cx="75790" cy="75790"/>
            <a:chOff x="0" y="0"/>
            <a:chExt cx="101054" cy="10105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667126" y="4140346"/>
            <a:ext cx="75790" cy="75790"/>
            <a:chOff x="0" y="0"/>
            <a:chExt cx="101054" cy="1010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667126" y="4428144"/>
            <a:ext cx="75790" cy="75790"/>
            <a:chOff x="0" y="0"/>
            <a:chExt cx="101054" cy="1010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465"/>
                    <a:pt x="3810" y="31115"/>
                  </a:cubicBezTo>
                  <a:cubicBezTo>
                    <a:pt x="6350" y="24765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667126" y="4715923"/>
            <a:ext cx="75790" cy="75790"/>
            <a:chOff x="0" y="0"/>
            <a:chExt cx="101054" cy="1010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8497595" y="2051580"/>
            <a:ext cx="147638" cy="3126324"/>
          </a:xfrm>
          <a:custGeom>
            <a:avLst/>
            <a:gdLst/>
            <a:ahLst/>
            <a:cxnLst/>
            <a:rect r="r" b="b" t="t" l="l"/>
            <a:pathLst>
              <a:path h="3126324" w="147638">
                <a:moveTo>
                  <a:pt x="0" y="0"/>
                </a:moveTo>
                <a:lnTo>
                  <a:pt x="147638" y="0"/>
                </a:lnTo>
                <a:lnTo>
                  <a:pt x="147638" y="3126324"/>
                </a:lnTo>
                <a:lnTo>
                  <a:pt x="0" y="31263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7683198" y="0"/>
            <a:ext cx="1739541" cy="1620955"/>
          </a:xfrm>
          <a:custGeom>
            <a:avLst/>
            <a:gdLst/>
            <a:ahLst/>
            <a:cxnLst/>
            <a:rect r="r" b="b" t="t" l="l"/>
            <a:pathLst>
              <a:path h="1620955" w="1739541">
                <a:moveTo>
                  <a:pt x="0" y="0"/>
                </a:moveTo>
                <a:lnTo>
                  <a:pt x="1739542" y="0"/>
                </a:lnTo>
                <a:lnTo>
                  <a:pt x="1739542" y="1620955"/>
                </a:lnTo>
                <a:lnTo>
                  <a:pt x="0" y="1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133" t="0" r="-133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9124540" y="2984211"/>
            <a:ext cx="75790" cy="75790"/>
            <a:chOff x="0" y="0"/>
            <a:chExt cx="101054" cy="1010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124540" y="3271999"/>
            <a:ext cx="75790" cy="75790"/>
            <a:chOff x="0" y="0"/>
            <a:chExt cx="101054" cy="10105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124540" y="3847576"/>
            <a:ext cx="75790" cy="75790"/>
            <a:chOff x="0" y="0"/>
            <a:chExt cx="101054" cy="10105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124540" y="4135355"/>
            <a:ext cx="75790" cy="75790"/>
            <a:chOff x="0" y="0"/>
            <a:chExt cx="101054" cy="1010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121002" y="2845308"/>
            <a:ext cx="75790" cy="75790"/>
            <a:chOff x="0" y="0"/>
            <a:chExt cx="101054" cy="10105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121002" y="3133096"/>
            <a:ext cx="75790" cy="75790"/>
            <a:chOff x="0" y="0"/>
            <a:chExt cx="101054" cy="1010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121002" y="3420885"/>
            <a:ext cx="75790" cy="75790"/>
            <a:chOff x="0" y="0"/>
            <a:chExt cx="101054" cy="10105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121002" y="4284250"/>
            <a:ext cx="75790" cy="75790"/>
            <a:chOff x="0" y="0"/>
            <a:chExt cx="101054" cy="10105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465"/>
                    <a:pt x="3810" y="31115"/>
                  </a:cubicBezTo>
                  <a:cubicBezTo>
                    <a:pt x="6350" y="24765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121002" y="5147615"/>
            <a:ext cx="75790" cy="75790"/>
            <a:chOff x="0" y="0"/>
            <a:chExt cx="101054" cy="10105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1092" cy="101092"/>
            </a:xfrm>
            <a:custGeom>
              <a:avLst/>
              <a:gdLst/>
              <a:ahLst/>
              <a:cxnLst/>
              <a:rect r="r" b="b" t="t" l="l"/>
              <a:pathLst>
                <a:path h="101092" w="101092">
                  <a:moveTo>
                    <a:pt x="101092" y="50546"/>
                  </a:moveTo>
                  <a:cubicBezTo>
                    <a:pt x="101092" y="57277"/>
                    <a:pt x="99822" y="63627"/>
                    <a:pt x="97282" y="69850"/>
                  </a:cubicBezTo>
                  <a:cubicBezTo>
                    <a:pt x="94742" y="76073"/>
                    <a:pt x="91059" y="81534"/>
                    <a:pt x="86233" y="86233"/>
                  </a:cubicBezTo>
                  <a:cubicBezTo>
                    <a:pt x="81407" y="90932"/>
                    <a:pt x="76073" y="94615"/>
                    <a:pt x="69850" y="97282"/>
                  </a:cubicBezTo>
                  <a:cubicBezTo>
                    <a:pt x="63627" y="99949"/>
                    <a:pt x="57277" y="101092"/>
                    <a:pt x="50546" y="101092"/>
                  </a:cubicBezTo>
                  <a:cubicBezTo>
                    <a:pt x="43815" y="101092"/>
                    <a:pt x="37465" y="99822"/>
                    <a:pt x="31242" y="97282"/>
                  </a:cubicBezTo>
                  <a:cubicBezTo>
                    <a:pt x="25019" y="94742"/>
                    <a:pt x="19558" y="91059"/>
                    <a:pt x="14859" y="86233"/>
                  </a:cubicBezTo>
                  <a:cubicBezTo>
                    <a:pt x="10160" y="81407"/>
                    <a:pt x="6350" y="76073"/>
                    <a:pt x="3810" y="69850"/>
                  </a:cubicBezTo>
                  <a:cubicBezTo>
                    <a:pt x="1270" y="63627"/>
                    <a:pt x="0" y="57277"/>
                    <a:pt x="0" y="50546"/>
                  </a:cubicBezTo>
                  <a:cubicBezTo>
                    <a:pt x="0" y="43815"/>
                    <a:pt x="1270" y="37338"/>
                    <a:pt x="3810" y="31115"/>
                  </a:cubicBezTo>
                  <a:cubicBezTo>
                    <a:pt x="6350" y="24892"/>
                    <a:pt x="10033" y="19431"/>
                    <a:pt x="14859" y="14732"/>
                  </a:cubicBezTo>
                  <a:cubicBezTo>
                    <a:pt x="19685" y="10033"/>
                    <a:pt x="24892" y="6350"/>
                    <a:pt x="31115" y="3810"/>
                  </a:cubicBezTo>
                  <a:cubicBezTo>
                    <a:pt x="37338" y="1270"/>
                    <a:pt x="43815" y="0"/>
                    <a:pt x="50546" y="0"/>
                  </a:cubicBezTo>
                  <a:cubicBezTo>
                    <a:pt x="57277" y="0"/>
                    <a:pt x="63627" y="1270"/>
                    <a:pt x="69850" y="3810"/>
                  </a:cubicBezTo>
                  <a:cubicBezTo>
                    <a:pt x="76073" y="6350"/>
                    <a:pt x="81534" y="10033"/>
                    <a:pt x="86233" y="14859"/>
                  </a:cubicBezTo>
                  <a:cubicBezTo>
                    <a:pt x="90932" y="19685"/>
                    <a:pt x="94615" y="25019"/>
                    <a:pt x="97282" y="31242"/>
                  </a:cubicBezTo>
                  <a:cubicBezTo>
                    <a:pt x="99949" y="37465"/>
                    <a:pt x="101092" y="43815"/>
                    <a:pt x="101092" y="5054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13533758" y="4568247"/>
            <a:ext cx="83296" cy="83420"/>
          </a:xfrm>
          <a:custGeom>
            <a:avLst/>
            <a:gdLst/>
            <a:ahLst/>
            <a:cxnLst/>
            <a:rect r="r" b="b" t="t" l="l"/>
            <a:pathLst>
              <a:path h="83420" w="83296">
                <a:moveTo>
                  <a:pt x="0" y="0"/>
                </a:moveTo>
                <a:lnTo>
                  <a:pt x="83296" y="0"/>
                </a:lnTo>
                <a:lnTo>
                  <a:pt x="83296" y="83420"/>
                </a:lnTo>
                <a:lnTo>
                  <a:pt x="0" y="834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3533758" y="4856036"/>
            <a:ext cx="83296" cy="83420"/>
          </a:xfrm>
          <a:custGeom>
            <a:avLst/>
            <a:gdLst/>
            <a:ahLst/>
            <a:cxnLst/>
            <a:rect r="r" b="b" t="t" l="l"/>
            <a:pathLst>
              <a:path h="83420" w="83296">
                <a:moveTo>
                  <a:pt x="0" y="0"/>
                </a:moveTo>
                <a:lnTo>
                  <a:pt x="83296" y="0"/>
                </a:lnTo>
                <a:lnTo>
                  <a:pt x="83296" y="83419"/>
                </a:lnTo>
                <a:lnTo>
                  <a:pt x="0" y="8341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5689418" y="747208"/>
            <a:ext cx="1439056" cy="1419539"/>
          </a:xfrm>
          <a:custGeom>
            <a:avLst/>
            <a:gdLst/>
            <a:ahLst/>
            <a:cxnLst/>
            <a:rect r="r" b="b" t="t" l="l"/>
            <a:pathLst>
              <a:path h="1419539" w="1439056">
                <a:moveTo>
                  <a:pt x="0" y="0"/>
                </a:moveTo>
                <a:lnTo>
                  <a:pt x="1439056" y="0"/>
                </a:lnTo>
                <a:lnTo>
                  <a:pt x="1439056" y="1419539"/>
                </a:lnTo>
                <a:lnTo>
                  <a:pt x="0" y="141953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20" r="0" b="-2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2384222" y="1114977"/>
            <a:ext cx="4436364" cy="62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3195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Hardware Ecosystem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091436" y="5547074"/>
            <a:ext cx="10018014" cy="357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3"/>
              </a:lnSpc>
            </a:pPr>
            <a:r>
              <a:rPr lang="en-US" sz="3195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Expected Output</a:t>
            </a:r>
          </a:p>
          <a:p>
            <a:pPr algn="l">
              <a:lnSpc>
                <a:spcPts val="3558"/>
              </a:lnSpc>
            </a:pPr>
            <a:r>
              <a:rPr lang="en-US" sz="2325" b="true">
                <a:solidFill>
                  <a:srgbClr val="72D6FE"/>
                </a:solidFill>
                <a:latin typeface="Gotham Bold"/>
                <a:ea typeface="Gotham Bold"/>
                <a:cs typeface="Gotham Bold"/>
                <a:sym typeface="Gotham Bold"/>
              </a:rPr>
              <a:t>Early Detection :</a:t>
            </a:r>
            <a:r>
              <a:rPr lang="en-US" sz="2325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32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Reliable identification of approaching vehicles completely obscured by dense fog.</a:t>
            </a:r>
          </a:p>
          <a:p>
            <a:pPr algn="l">
              <a:lnSpc>
                <a:spcPts val="3558"/>
              </a:lnSpc>
            </a:pPr>
            <a:r>
              <a:rPr lang="en-US" sz="2325" b="true">
                <a:solidFill>
                  <a:srgbClr val="72D6FE"/>
                </a:solidFill>
                <a:latin typeface="Gotham Bold"/>
                <a:ea typeface="Gotham Bold"/>
                <a:cs typeface="Gotham Bold"/>
                <a:sym typeface="Gotham Bold"/>
              </a:rPr>
              <a:t>Immediate Alert :</a:t>
            </a:r>
            <a:r>
              <a:rPr lang="en-US" sz="232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Distinct visual and audible warnings delivered to the driver via the edge device with zero latency.</a:t>
            </a:r>
          </a:p>
          <a:p>
            <a:pPr algn="l">
              <a:lnSpc>
                <a:spcPts val="3558"/>
              </a:lnSpc>
            </a:pPr>
            <a:r>
              <a:rPr lang="en-US" sz="2325" b="true">
                <a:solidFill>
                  <a:srgbClr val="72D6FE"/>
                </a:solidFill>
                <a:latin typeface="Gotham Bold"/>
                <a:ea typeface="Gotham Bold"/>
                <a:cs typeface="Gotham Bold"/>
                <a:sym typeface="Gotham Bold"/>
              </a:rPr>
              <a:t>Ultimate Impact :</a:t>
            </a:r>
            <a:r>
              <a:rPr lang="en-US" sz="2325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Significantly improved road safety and a drastic reduction in collisions under critical low-visibility conditions.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616184" y="1114977"/>
            <a:ext cx="4293956" cy="62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3"/>
              </a:lnSpc>
            </a:pPr>
            <a:r>
              <a:rPr lang="en-US" sz="3195" b="true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Software Ecosystem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62160" y="2506885"/>
            <a:ext cx="1140066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Compute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462643" y="2506885"/>
            <a:ext cx="1212247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Output UI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74078" y="2870873"/>
            <a:ext cx="3107741" cy="57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64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Tiva C Board</a:t>
            </a:r>
          </a:p>
          <a:p>
            <a:pPr algn="just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 Cortex-M Microcontroller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4874562" y="2870873"/>
            <a:ext cx="3337389" cy="86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OLED Display / LCD (16×2)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Warning LEDs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Buzzer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362160" y="3370250"/>
            <a:ext cx="1125474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Sensing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74078" y="3734238"/>
            <a:ext cx="3196238" cy="5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MEMS Microphone Sensor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MAX9814 / MAX4466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462643" y="3658038"/>
            <a:ext cx="2722359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Ancillary Components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874562" y="4022026"/>
            <a:ext cx="3347276" cy="86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USB Programmer / ST-Link</a:t>
            </a:r>
          </a:p>
          <a:p>
            <a:pPr algn="l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Breadboard</a:t>
            </a:r>
          </a:p>
          <a:p>
            <a:pPr algn="l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Power Supply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362160" y="4233615"/>
            <a:ext cx="1746933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Conditioning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74078" y="4597603"/>
            <a:ext cx="3548243" cy="5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LM358 Operational Amplifier Used for signal amplification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8920058" y="2501894"/>
            <a:ext cx="1572911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Environment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331976" y="2865882"/>
            <a:ext cx="1907848" cy="28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Keil uVision5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8920058" y="3365259"/>
            <a:ext cx="2974000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Programming Language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331976" y="3729247"/>
            <a:ext cx="3363335" cy="86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Embedded C Programming Optimized for TinyML constraints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916519" y="2362991"/>
            <a:ext cx="1753105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Analysis Tools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3328437" y="2726979"/>
            <a:ext cx="4130888" cy="115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MATLAB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Python</a:t>
            </a:r>
          </a:p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Used for initial signal analysis and algorithm modeling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916519" y="3801932"/>
            <a:ext cx="2980925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Simulation &amp; Debugging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3328437" y="4089721"/>
            <a:ext cx="1816637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Serial Terminal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3740479" y="4453709"/>
            <a:ext cx="1261434" cy="578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PuTTY Tera Term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328437" y="4953086"/>
            <a:ext cx="4002586" cy="367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1"/>
              </a:lnSpc>
            </a:pPr>
            <a:r>
              <a:rPr lang="en-US" sz="1908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Proteus (optional for simulation)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6276" y="274358"/>
            <a:ext cx="16706755" cy="1765744"/>
            <a:chOff x="0" y="0"/>
            <a:chExt cx="22275673" cy="2354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275673" cy="2354326"/>
            </a:xfrm>
            <a:custGeom>
              <a:avLst/>
              <a:gdLst/>
              <a:ahLst/>
              <a:cxnLst/>
              <a:rect r="r" b="b" t="t" l="l"/>
              <a:pathLst>
                <a:path h="2354326" w="22275673">
                  <a:moveTo>
                    <a:pt x="0" y="0"/>
                  </a:moveTo>
                  <a:lnTo>
                    <a:pt x="22275673" y="0"/>
                  </a:lnTo>
                  <a:lnTo>
                    <a:pt x="22275673" y="2354326"/>
                  </a:lnTo>
                  <a:lnTo>
                    <a:pt x="0" y="2354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125980" y="2576922"/>
            <a:ext cx="13761615" cy="3477930"/>
          </a:xfrm>
          <a:custGeom>
            <a:avLst/>
            <a:gdLst/>
            <a:ahLst/>
            <a:cxnLst/>
            <a:rect r="r" b="b" t="t" l="l"/>
            <a:pathLst>
              <a:path h="3477930" w="13761615">
                <a:moveTo>
                  <a:pt x="0" y="0"/>
                </a:moveTo>
                <a:lnTo>
                  <a:pt x="13761615" y="0"/>
                </a:lnTo>
                <a:lnTo>
                  <a:pt x="13761615" y="3477930"/>
                </a:lnTo>
                <a:lnTo>
                  <a:pt x="0" y="34779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7" t="0" r="-27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62619" y="3650552"/>
            <a:ext cx="11530594" cy="2384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64"/>
              </a:lnSpc>
            </a:pPr>
            <a:r>
              <a:rPr lang="en-US" b="true" sz="17564" spc="-649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DAHXJn1xWfY</dc:identifier>
  <dcterms:modified xsi:type="dcterms:W3CDTF">2011-08-01T06:04:30Z</dcterms:modified>
  <cp:revision>1</cp:revision>
  <dc:title>Review _1_GhostSense_Edge_AI_Fog_Detection.pptx</dc:title>
</cp:coreProperties>
</file>